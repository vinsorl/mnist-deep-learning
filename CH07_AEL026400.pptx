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8" r:id="rId2"/>
    <p:sldId id="256" r:id="rId3"/>
    <p:sldId id="321" r:id="rId4"/>
    <p:sldId id="435" r:id="rId5"/>
    <p:sldId id="436" r:id="rId6"/>
    <p:sldId id="437" r:id="rId7"/>
    <p:sldId id="438" r:id="rId8"/>
    <p:sldId id="439" r:id="rId9"/>
    <p:sldId id="440" r:id="rId10"/>
    <p:sldId id="441" r:id="rId11"/>
    <p:sldId id="442" r:id="rId12"/>
    <p:sldId id="443" r:id="rId13"/>
    <p:sldId id="444" r:id="rId14"/>
    <p:sldId id="445" r:id="rId15"/>
    <p:sldId id="446" r:id="rId16"/>
    <p:sldId id="447" r:id="rId17"/>
    <p:sldId id="448" r:id="rId18"/>
    <p:sldId id="449" r:id="rId19"/>
    <p:sldId id="450" r:id="rId20"/>
    <p:sldId id="451" r:id="rId21"/>
    <p:sldId id="452" r:id="rId22"/>
    <p:sldId id="453" r:id="rId23"/>
    <p:sldId id="454" r:id="rId24"/>
    <p:sldId id="455" r:id="rId25"/>
    <p:sldId id="456" r:id="rId26"/>
    <p:sldId id="457" r:id="rId27"/>
    <p:sldId id="458" r:id="rId28"/>
    <p:sldId id="459" r:id="rId29"/>
    <p:sldId id="460" r:id="rId30"/>
    <p:sldId id="461" r:id="rId31"/>
    <p:sldId id="462" r:id="rId32"/>
    <p:sldId id="463" r:id="rId33"/>
    <p:sldId id="464" r:id="rId34"/>
    <p:sldId id="465" r:id="rId35"/>
    <p:sldId id="466" r:id="rId36"/>
    <p:sldId id="394"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3" d="100"/>
          <a:sy n="63" d="100"/>
        </p:scale>
        <p:origin x="1341"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06CC87-CCAF-4BBD-A773-97FD6EA0BF27}" type="datetimeFigureOut">
              <a:rPr lang="zh-TW" altLang="en-US" smtClean="0"/>
              <a:t>2024/8/31</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1CFC10-B30E-4B8F-8B18-FC511E7CB7C5}" type="slidenum">
              <a:rPr lang="zh-TW" altLang="en-US" smtClean="0"/>
              <a:t>‹#›</a:t>
            </a:fld>
            <a:endParaRPr lang="zh-TW" altLang="en-US"/>
          </a:p>
        </p:txBody>
      </p:sp>
    </p:spTree>
    <p:extLst>
      <p:ext uri="{BB962C8B-B14F-4D97-AF65-F5344CB8AC3E}">
        <p14:creationId xmlns:p14="http://schemas.microsoft.com/office/powerpoint/2010/main" val="102000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B45E7DB2-6595-44BF-A4DE-492CD7932810}" type="datetime1">
              <a:rPr lang="zh-TW" altLang="en-US" smtClean="0"/>
              <a:t>2024/8/31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3E4D947-4B0C-4C4C-8502-CC34B2016046}" type="slidenum">
              <a:rPr lang="zh-TW" altLang="en-US" smtClean="0"/>
              <a:t>‹#›</a:t>
            </a:fld>
            <a:endParaRPr lang="zh-TW" altLang="en-US"/>
          </a:p>
        </p:txBody>
      </p:sp>
      <p:pic>
        <p:nvPicPr>
          <p:cNvPr id="10" name="圖片 9">
            <a:extLst>
              <a:ext uri="{FF2B5EF4-FFF2-40B4-BE49-F238E27FC236}">
                <a16:creationId xmlns:a16="http://schemas.microsoft.com/office/drawing/2014/main" id="{47B2D66C-609C-4F45-AA5C-7AF8C760AD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9"/>
            <a:ext cx="9144000" cy="6832622"/>
          </a:xfrm>
          <a:prstGeom prst="rect">
            <a:avLst/>
          </a:prstGeom>
        </p:spPr>
      </p:pic>
    </p:spTree>
    <p:extLst>
      <p:ext uri="{BB962C8B-B14F-4D97-AF65-F5344CB8AC3E}">
        <p14:creationId xmlns:p14="http://schemas.microsoft.com/office/powerpoint/2010/main" val="3843476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C64B58B-D6FC-4CD8-8F72-42DE7D0140C7}" type="datetime1">
              <a:rPr lang="zh-TW" altLang="en-US" smtClean="0"/>
              <a:t>2024/8/31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3E4D947-4B0C-4C4C-8502-CC34B2016046}" type="slidenum">
              <a:rPr lang="zh-TW" altLang="en-US" smtClean="0"/>
              <a:t>‹#›</a:t>
            </a:fld>
            <a:endParaRPr lang="zh-TW" altLang="en-US"/>
          </a:p>
        </p:txBody>
      </p:sp>
      <p:pic>
        <p:nvPicPr>
          <p:cNvPr id="8" name="圖片 7">
            <a:extLst>
              <a:ext uri="{FF2B5EF4-FFF2-40B4-BE49-F238E27FC236}">
                <a16:creationId xmlns:a16="http://schemas.microsoft.com/office/drawing/2014/main" id="{A25C7303-2C39-4BD4-A0C0-D635CE1BA3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9"/>
            <a:ext cx="9144000" cy="6832622"/>
          </a:xfrm>
          <a:prstGeom prst="rect">
            <a:avLst/>
          </a:prstGeom>
        </p:spPr>
      </p:pic>
    </p:spTree>
    <p:extLst>
      <p:ext uri="{BB962C8B-B14F-4D97-AF65-F5344CB8AC3E}">
        <p14:creationId xmlns:p14="http://schemas.microsoft.com/office/powerpoint/2010/main" val="3865838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51FA123-1DCB-4EBE-9562-92AAA8F51B0D}" type="datetime1">
              <a:rPr lang="zh-TW" altLang="en-US" smtClean="0"/>
              <a:t>2024/8/31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32662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DF98454C-E7C1-4C06-BEAE-CDFEFF3A246C}" type="datetime1">
              <a:rPr lang="zh-TW" altLang="en-US" smtClean="0"/>
              <a:t>2024/8/31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3805263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AF59F99-AD4E-49B0-AFCC-7A1EC9FE2590}" type="datetime1">
              <a:rPr lang="zh-TW" altLang="en-US" smtClean="0"/>
              <a:t>2024/8/31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255449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3A3D9DC2-2CC6-4ADD-9830-2B70A3E76856}" type="datetime1">
              <a:rPr lang="zh-TW" altLang="en-US" smtClean="0"/>
              <a:t>2024/8/31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1446090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AD43D-84CD-4FC9-A103-9FAD05674241}" type="datetime1">
              <a:rPr lang="zh-TW" altLang="en-US" smtClean="0"/>
              <a:t>2024/8/31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3503273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marL="228600" indent="-228600">
              <a:buFont typeface="Arial" panose="020B0604020202020204" pitchFamily="34" charset="0"/>
              <a:buChar cha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AD1A3A4-AA8C-46FA-B76C-6B131ADF4114}" type="datetime1">
              <a:rPr lang="zh-TW" altLang="en-US" smtClean="0"/>
              <a:t>2024/8/31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2334569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1F72A4F-1621-4BED-BB28-F78C28E1EC27}" type="datetime1">
              <a:rPr lang="zh-TW" altLang="en-US" smtClean="0"/>
              <a:t>2024/8/31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3473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5491BA7-D304-4581-B566-8B0E710A906F}" type="datetime1">
              <a:rPr lang="zh-TW" altLang="en-US" smtClean="0"/>
              <a:t>2024/8/31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3396828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AAF29D4-0945-490F-90AE-9A3C964FB73D}" type="datetime1">
              <a:rPr lang="zh-TW" altLang="en-US" smtClean="0"/>
              <a:t>2024/8/31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2832138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7CBB98-E47C-4E17-BA25-10685C50F32C}" type="datetime1">
              <a:rPr lang="zh-TW" altLang="en-US" smtClean="0"/>
              <a:t>2024/8/31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E4D947-4B0C-4C4C-8502-CC34B2016046}" type="slidenum">
              <a:rPr lang="zh-TW" altLang="en-US" smtClean="0"/>
              <a:t>‹#›</a:t>
            </a:fld>
            <a:endParaRPr lang="zh-TW" altLang="en-US"/>
          </a:p>
        </p:txBody>
      </p:sp>
    </p:spTree>
    <p:extLst>
      <p:ext uri="{BB962C8B-B14F-4D97-AF65-F5344CB8AC3E}">
        <p14:creationId xmlns:p14="http://schemas.microsoft.com/office/powerpoint/2010/main" val="2366194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ytorch.org/docs/stable/nn.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3613FA-CF98-4A7C-99BD-BE93FA8F9B5B}"/>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A0CF4B42-C54B-44DC-8A9B-6DB9F77AA0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9177963" cy="6858000"/>
          </a:xfrm>
        </p:spPr>
      </p:pic>
      <p:sp>
        <p:nvSpPr>
          <p:cNvPr id="3" name="投影片編號版面配置區 2">
            <a:extLst>
              <a:ext uri="{FF2B5EF4-FFF2-40B4-BE49-F238E27FC236}">
                <a16:creationId xmlns:a16="http://schemas.microsoft.com/office/drawing/2014/main" id="{5E4DA543-F199-4E92-B1EB-848CADC313AD}"/>
              </a:ext>
            </a:extLst>
          </p:cNvPr>
          <p:cNvSpPr>
            <a:spLocks noGrp="1"/>
          </p:cNvSpPr>
          <p:nvPr>
            <p:ph type="sldNum" sz="quarter" idx="12"/>
          </p:nvPr>
        </p:nvSpPr>
        <p:spPr/>
        <p:txBody>
          <a:bodyPr/>
          <a:lstStyle/>
          <a:p>
            <a:fld id="{33E4D947-4B0C-4C4C-8502-CC34B2016046}" type="slidenum">
              <a:rPr lang="zh-TW" altLang="en-US" smtClean="0"/>
              <a:t>1</a:t>
            </a:fld>
            <a:endParaRPr lang="zh-TW" altLang="en-US"/>
          </a:p>
        </p:txBody>
      </p:sp>
    </p:spTree>
    <p:extLst>
      <p:ext uri="{BB962C8B-B14F-4D97-AF65-F5344CB8AC3E}">
        <p14:creationId xmlns:p14="http://schemas.microsoft.com/office/powerpoint/2010/main" val="2829370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04FC28-3A39-4E46-80DD-54A4A92D5C23}"/>
              </a:ext>
            </a:extLst>
          </p:cNvPr>
          <p:cNvSpPr>
            <a:spLocks noGrp="1"/>
          </p:cNvSpPr>
          <p:nvPr>
            <p:ph type="ctrTitle"/>
          </p:nvPr>
        </p:nvSpPr>
        <p:spPr>
          <a:xfrm>
            <a:off x="335280" y="163550"/>
            <a:ext cx="8557259" cy="1916073"/>
          </a:xfrm>
        </p:spPr>
        <p:txBody>
          <a:bodyPr/>
          <a:lstStyle/>
          <a:p>
            <a:r>
              <a:rPr lang="zh-TW" altLang="en-US" dirty="0"/>
              <a:t>第</a:t>
            </a:r>
            <a:r>
              <a:rPr lang="en-US" altLang="zh-TW" dirty="0"/>
              <a:t>7</a:t>
            </a:r>
            <a:r>
              <a:rPr lang="zh-TW" altLang="en-US" dirty="0"/>
              <a:t>章 深度神經網路實作</a:t>
            </a:r>
          </a:p>
        </p:txBody>
      </p:sp>
      <p:sp>
        <p:nvSpPr>
          <p:cNvPr id="3" name="副標題 2">
            <a:extLst>
              <a:ext uri="{FF2B5EF4-FFF2-40B4-BE49-F238E27FC236}">
                <a16:creationId xmlns:a16="http://schemas.microsoft.com/office/drawing/2014/main" id="{ED8A2808-57B3-43F0-AB01-2A0CBE1F08CD}"/>
              </a:ext>
            </a:extLst>
          </p:cNvPr>
          <p:cNvSpPr>
            <a:spLocks noGrp="1"/>
          </p:cNvSpPr>
          <p:nvPr>
            <p:ph type="subTitle" idx="1"/>
          </p:nvPr>
        </p:nvSpPr>
        <p:spPr>
          <a:xfrm>
            <a:off x="1264919" y="2488366"/>
            <a:ext cx="6812281" cy="3440244"/>
          </a:xfrm>
        </p:spPr>
        <p:txBody>
          <a:bodyPr>
            <a:noAutofit/>
          </a:bodyPr>
          <a:lstStyle/>
          <a:p>
            <a:pPr algn="l"/>
            <a:r>
              <a:rPr lang="zh-TW" altLang="en-US" b="0" i="0" u="none" strike="noStrike" baseline="0" dirty="0">
                <a:solidFill>
                  <a:srgbClr val="000000"/>
                </a:solidFill>
                <a:latin typeface="華康黑體"/>
              </a:rPr>
              <a:t>前一個章節了解全連接神經網路的運算原理後，可能會覺得它的程式實作比想像中困難。的確，如果我們要自行實作偏微分或反向傳播演算法，那樣的運算會相當複雜。近年有許多深度學習套件的出現，讓我們不需要專注在神經網路的基礎運算，而是把時間花在構思模型的結構，再用拼積木的方式接起來。</a:t>
            </a:r>
            <a:endParaRPr lang="en-US" altLang="zh-TW" b="0" i="0" u="none" strike="noStrike" baseline="0" dirty="0">
              <a:solidFill>
                <a:srgbClr val="000000"/>
              </a:solidFill>
              <a:latin typeface="華康黑體"/>
            </a:endParaRPr>
          </a:p>
          <a:p>
            <a:pPr algn="l"/>
            <a:r>
              <a:rPr lang="en-US" altLang="zh-TW" b="0" i="0" u="none" strike="noStrike" baseline="0" dirty="0" err="1">
                <a:solidFill>
                  <a:srgbClr val="000000"/>
                </a:solidFill>
                <a:latin typeface="華康黑體"/>
              </a:rPr>
              <a:t>Pytorch</a:t>
            </a:r>
            <a:r>
              <a:rPr lang="zh-TW" altLang="en-US" b="0" i="0" u="none" strike="noStrike" baseline="0" dirty="0">
                <a:solidFill>
                  <a:srgbClr val="000000"/>
                </a:solidFill>
                <a:latin typeface="華康黑體"/>
              </a:rPr>
              <a:t>是近幾年崛起的深度學習套件，我們在這個章節和往後的實作中也會用它來進行神經網路的實作。</a:t>
            </a:r>
            <a:endParaRPr lang="zh-TW" altLang="en-US" dirty="0"/>
          </a:p>
        </p:txBody>
      </p:sp>
      <p:sp>
        <p:nvSpPr>
          <p:cNvPr id="4" name="投影片編號版面配置區 3">
            <a:extLst>
              <a:ext uri="{FF2B5EF4-FFF2-40B4-BE49-F238E27FC236}">
                <a16:creationId xmlns:a16="http://schemas.microsoft.com/office/drawing/2014/main" id="{7AA54C13-A2BA-4D6A-9CC8-1AEE606AFC30}"/>
              </a:ext>
            </a:extLst>
          </p:cNvPr>
          <p:cNvSpPr>
            <a:spLocks noGrp="1"/>
          </p:cNvSpPr>
          <p:nvPr>
            <p:ph type="sldNum" sz="quarter" idx="12"/>
          </p:nvPr>
        </p:nvSpPr>
        <p:spPr/>
        <p:txBody>
          <a:bodyPr/>
          <a:lstStyle/>
          <a:p>
            <a:fld id="{33E4D947-4B0C-4C4C-8502-CC34B2016046}" type="slidenum">
              <a:rPr lang="zh-TW" altLang="en-US" smtClean="0"/>
              <a:t>2</a:t>
            </a:fld>
            <a:endParaRPr lang="zh-TW" altLang="en-US"/>
          </a:p>
        </p:txBody>
      </p:sp>
    </p:spTree>
    <p:extLst>
      <p:ext uri="{BB962C8B-B14F-4D97-AF65-F5344CB8AC3E}">
        <p14:creationId xmlns:p14="http://schemas.microsoft.com/office/powerpoint/2010/main" val="3031231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80034A-BFDE-4744-9BFE-920F4153CABC}"/>
              </a:ext>
            </a:extLst>
          </p:cNvPr>
          <p:cNvSpPr>
            <a:spLocks noGrp="1"/>
          </p:cNvSpPr>
          <p:nvPr>
            <p:ph type="title"/>
          </p:nvPr>
        </p:nvSpPr>
        <p:spPr>
          <a:xfrm>
            <a:off x="291370" y="365126"/>
            <a:ext cx="8561260" cy="1325563"/>
          </a:xfrm>
        </p:spPr>
        <p:txBody>
          <a:bodyPr>
            <a:normAutofit/>
          </a:bodyPr>
          <a:lstStyle/>
          <a:p>
            <a:r>
              <a:rPr lang="en-US" altLang="zh-TW" sz="3200" dirty="0"/>
              <a:t>7.1 </a:t>
            </a:r>
            <a:r>
              <a:rPr lang="zh-TW" altLang="en-US" sz="3200" dirty="0"/>
              <a:t>運用</a:t>
            </a:r>
            <a:r>
              <a:rPr lang="en-US" altLang="zh-TW" sz="3200" dirty="0" err="1"/>
              <a:t>torch.nn</a:t>
            </a:r>
            <a:r>
              <a:rPr lang="zh-TW" altLang="en-US" sz="3200" dirty="0"/>
              <a:t>類別實作</a:t>
            </a:r>
            <a:r>
              <a:rPr lang="en-US" altLang="zh-TW" sz="3200" dirty="0"/>
              <a:t>MNIST</a:t>
            </a:r>
            <a:r>
              <a:rPr lang="zh-TW" altLang="en-US" sz="3200" dirty="0"/>
              <a:t>手寫數字辨識</a:t>
            </a:r>
          </a:p>
        </p:txBody>
      </p:sp>
      <p:sp>
        <p:nvSpPr>
          <p:cNvPr id="3" name="內容版面配置區 2">
            <a:extLst>
              <a:ext uri="{FF2B5EF4-FFF2-40B4-BE49-F238E27FC236}">
                <a16:creationId xmlns:a16="http://schemas.microsoft.com/office/drawing/2014/main" id="{C1216B04-CF13-48C4-A737-9C5DD85CA6F2}"/>
              </a:ext>
            </a:extLst>
          </p:cNvPr>
          <p:cNvSpPr>
            <a:spLocks noGrp="1"/>
          </p:cNvSpPr>
          <p:nvPr>
            <p:ph idx="1"/>
          </p:nvPr>
        </p:nvSpPr>
        <p:spPr>
          <a:xfrm>
            <a:off x="291370" y="1454048"/>
            <a:ext cx="8684989" cy="5350612"/>
          </a:xfrm>
        </p:spPr>
        <p:txBody>
          <a:bodyPr>
            <a:normAutofit fontScale="92500" lnSpcReduction="10000"/>
          </a:bodyPr>
          <a:lstStyle/>
          <a:p>
            <a:pPr algn="r"/>
            <a:r>
              <a:rPr lang="en-US" altLang="zh-TW" dirty="0" err="1"/>
              <a:t>Jupyter</a:t>
            </a:r>
            <a:r>
              <a:rPr lang="en-US" altLang="zh-TW" dirty="0"/>
              <a:t> Notebook</a:t>
            </a:r>
            <a:r>
              <a:rPr lang="zh-TW" altLang="en-US" dirty="0"/>
              <a:t>：</a:t>
            </a:r>
            <a:r>
              <a:rPr lang="en-US" altLang="zh-TW" dirty="0"/>
              <a:t>ch7/</a:t>
            </a:r>
            <a:r>
              <a:rPr lang="en-US" altLang="zh-TW" dirty="0" err="1"/>
              <a:t>NN_MNIST.ipynb</a:t>
            </a:r>
            <a:endParaRPr lang="en-US" altLang="zh-TW" dirty="0"/>
          </a:p>
          <a:p>
            <a:pPr algn="r"/>
            <a:r>
              <a:rPr lang="en-US" altLang="zh-TW" dirty="0"/>
              <a:t>Python</a:t>
            </a:r>
            <a:r>
              <a:rPr lang="zh-TW" altLang="en-US" dirty="0"/>
              <a:t>完整程式：</a:t>
            </a:r>
            <a:r>
              <a:rPr lang="en-US" altLang="zh-TW" dirty="0"/>
              <a:t>ch7/NN_MNIST.py</a:t>
            </a:r>
          </a:p>
          <a:p>
            <a:r>
              <a:rPr lang="en-US" altLang="zh-TW" dirty="0" err="1"/>
              <a:t>Pytorch</a:t>
            </a:r>
            <a:r>
              <a:rPr lang="zh-TW" altLang="en-US" dirty="0"/>
              <a:t>套件中有一個非常好用的</a:t>
            </a:r>
            <a:r>
              <a:rPr lang="en-US" altLang="zh-TW" dirty="0" err="1"/>
              <a:t>torch.nn</a:t>
            </a:r>
            <a:r>
              <a:rPr lang="zh-TW" altLang="en-US" dirty="0"/>
              <a:t>子套件。我們能把神經網路宣告成一個物件，這個物件中有一個子物件序列，序列中的各個子物件就是神經網路中的一層。運用</a:t>
            </a:r>
            <a:r>
              <a:rPr lang="en-US" altLang="zh-TW" dirty="0" err="1"/>
              <a:t>torch.nn</a:t>
            </a:r>
            <a:r>
              <a:rPr lang="zh-TW" altLang="en-US" dirty="0"/>
              <a:t>建構神經網路時，我們不需要實作張量運算，只需要考慮各層的架構，以及損失估計、梯度優化或超參數等校正用的函數。</a:t>
            </a:r>
            <a:endParaRPr lang="en-US" altLang="zh-TW" dirty="0"/>
          </a:p>
          <a:p>
            <a:r>
              <a:rPr lang="zh-TW" altLang="en-US" dirty="0"/>
              <a:t>人腦在思考時，沒有人知道自己各個神經元受了什麼刺激，送了什麼訊號，但我們就是能對周遭環境有正確的回應。同樣地，神經元的內部參數不是我們該關注的問題，重要的是找到適當的外部參數讓這些數值收斂，使得模型有理想的輸出。從這點來看，</a:t>
            </a:r>
            <a:r>
              <a:rPr lang="en-US" altLang="zh-TW" dirty="0" err="1"/>
              <a:t>torch.nn</a:t>
            </a:r>
            <a:r>
              <a:rPr lang="zh-TW" altLang="en-US" dirty="0"/>
              <a:t>在深度學習上是個相當方便的工具。</a:t>
            </a:r>
          </a:p>
        </p:txBody>
      </p:sp>
      <p:sp>
        <p:nvSpPr>
          <p:cNvPr id="4" name="投影片編號版面配置區 3">
            <a:extLst>
              <a:ext uri="{FF2B5EF4-FFF2-40B4-BE49-F238E27FC236}">
                <a16:creationId xmlns:a16="http://schemas.microsoft.com/office/drawing/2014/main" id="{239AAFCE-68B4-45B7-A664-9DF22C130370}"/>
              </a:ext>
            </a:extLst>
          </p:cNvPr>
          <p:cNvSpPr>
            <a:spLocks noGrp="1"/>
          </p:cNvSpPr>
          <p:nvPr>
            <p:ph type="sldNum" sz="quarter" idx="12"/>
          </p:nvPr>
        </p:nvSpPr>
        <p:spPr/>
        <p:txBody>
          <a:bodyPr/>
          <a:lstStyle/>
          <a:p>
            <a:fld id="{33E4D947-4B0C-4C4C-8502-CC34B2016046}" type="slidenum">
              <a:rPr lang="zh-TW" altLang="en-US" smtClean="0"/>
              <a:t>3</a:t>
            </a:fld>
            <a:endParaRPr lang="zh-TW" altLang="en-US" dirty="0"/>
          </a:p>
        </p:txBody>
      </p:sp>
    </p:spTree>
    <p:extLst>
      <p:ext uri="{BB962C8B-B14F-4D97-AF65-F5344CB8AC3E}">
        <p14:creationId xmlns:p14="http://schemas.microsoft.com/office/powerpoint/2010/main" val="152341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4EC669-1237-47D5-B32B-C239CEA6622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E935629-1C8A-4C68-BF19-81552DB03302}"/>
              </a:ext>
            </a:extLst>
          </p:cNvPr>
          <p:cNvSpPr>
            <a:spLocks noGrp="1"/>
          </p:cNvSpPr>
          <p:nvPr>
            <p:ph idx="1"/>
          </p:nvPr>
        </p:nvSpPr>
        <p:spPr/>
        <p:txBody>
          <a:bodyPr/>
          <a:lstStyle/>
          <a:p>
            <a:r>
              <a:rPr lang="zh-TW" altLang="en-US" dirty="0"/>
              <a:t>以下我們將用</a:t>
            </a:r>
            <a:r>
              <a:rPr lang="en-US" altLang="zh-TW" dirty="0" err="1"/>
              <a:t>torch.nn</a:t>
            </a:r>
            <a:r>
              <a:rPr lang="zh-TW" altLang="en-US" dirty="0"/>
              <a:t>，實作辨識</a:t>
            </a:r>
            <a:r>
              <a:rPr lang="en-US" altLang="zh-TW" dirty="0"/>
              <a:t>MNIST </a:t>
            </a:r>
            <a:r>
              <a:rPr lang="zh-TW" altLang="en-US" dirty="0"/>
              <a:t>資料庫中手寫數字的神經網路。</a:t>
            </a:r>
          </a:p>
          <a:p>
            <a:r>
              <a:rPr lang="zh-TW" altLang="en-US" dirty="0"/>
              <a:t>我們只會探討這個章節的實作需要的函式及參數，有興趣深入研究可以參考</a:t>
            </a:r>
            <a:r>
              <a:rPr lang="en-US" altLang="zh-TW" dirty="0" err="1"/>
              <a:t>torch.nn</a:t>
            </a:r>
            <a:r>
              <a:rPr lang="en-US" altLang="zh-TW" dirty="0"/>
              <a:t> </a:t>
            </a:r>
            <a:r>
              <a:rPr lang="zh-TW" altLang="en-US" dirty="0"/>
              <a:t>的官方文件（網址</a:t>
            </a:r>
            <a:r>
              <a:rPr lang="en-US" altLang="zh-TW" dirty="0">
                <a:hlinkClick r:id="rId2"/>
              </a:rPr>
              <a:t>https://pytorch.org/docs/stable/nn.html</a:t>
            </a:r>
            <a:r>
              <a:rPr lang="zh-TW" altLang="en-US" dirty="0"/>
              <a:t>）。</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DB4AEE04-DC1F-4DD7-9BA9-991BDB6F73CF}"/>
              </a:ext>
            </a:extLst>
          </p:cNvPr>
          <p:cNvSpPr>
            <a:spLocks noGrp="1"/>
          </p:cNvSpPr>
          <p:nvPr>
            <p:ph type="sldNum" sz="quarter" idx="12"/>
          </p:nvPr>
        </p:nvSpPr>
        <p:spPr/>
        <p:txBody>
          <a:bodyPr/>
          <a:lstStyle/>
          <a:p>
            <a:fld id="{33E4D947-4B0C-4C4C-8502-CC34B2016046}" type="slidenum">
              <a:rPr lang="zh-TW" altLang="en-US" smtClean="0"/>
              <a:t>4</a:t>
            </a:fld>
            <a:endParaRPr lang="zh-TW" altLang="en-US"/>
          </a:p>
        </p:txBody>
      </p:sp>
      <p:pic>
        <p:nvPicPr>
          <p:cNvPr id="6" name="圖片 5">
            <a:extLst>
              <a:ext uri="{FF2B5EF4-FFF2-40B4-BE49-F238E27FC236}">
                <a16:creationId xmlns:a16="http://schemas.microsoft.com/office/drawing/2014/main" id="{C8254780-039F-4F50-9CAB-BEA1D3F0C6D1}"/>
              </a:ext>
            </a:extLst>
          </p:cNvPr>
          <p:cNvPicPr>
            <a:picLocks noChangeAspect="1"/>
          </p:cNvPicPr>
          <p:nvPr/>
        </p:nvPicPr>
        <p:blipFill>
          <a:blip r:embed="rId3"/>
          <a:stretch>
            <a:fillRect/>
          </a:stretch>
        </p:blipFill>
        <p:spPr>
          <a:xfrm>
            <a:off x="1234422" y="4110031"/>
            <a:ext cx="6819490" cy="2321249"/>
          </a:xfrm>
          <a:prstGeom prst="rect">
            <a:avLst/>
          </a:prstGeom>
        </p:spPr>
      </p:pic>
    </p:spTree>
    <p:extLst>
      <p:ext uri="{BB962C8B-B14F-4D97-AF65-F5344CB8AC3E}">
        <p14:creationId xmlns:p14="http://schemas.microsoft.com/office/powerpoint/2010/main" val="3317623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09B36C-B5FA-4037-A112-27BE41485F8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8B506EE-FF30-4AAB-BDE4-2B1CE255EE8C}"/>
              </a:ext>
            </a:extLst>
          </p:cNvPr>
          <p:cNvSpPr>
            <a:spLocks noGrp="1"/>
          </p:cNvSpPr>
          <p:nvPr>
            <p:ph idx="1"/>
          </p:nvPr>
        </p:nvSpPr>
        <p:spPr>
          <a:xfrm>
            <a:off x="628650" y="1825624"/>
            <a:ext cx="7886700" cy="4895851"/>
          </a:xfrm>
        </p:spPr>
        <p:txBody>
          <a:bodyPr>
            <a:normAutofit/>
          </a:bodyPr>
          <a:lstStyle/>
          <a:p>
            <a:pPr>
              <a:buFont typeface="Wingdings" panose="05000000000000000000" pitchFamily="2" charset="2"/>
              <a:buChar char="Ø"/>
            </a:pPr>
            <a:r>
              <a:rPr lang="en-US" altLang="zh-TW" dirty="0"/>
              <a:t>7.1.1 </a:t>
            </a:r>
            <a:r>
              <a:rPr lang="zh-TW" altLang="en-US" dirty="0"/>
              <a:t>神經網路的建構</a:t>
            </a:r>
          </a:p>
          <a:p>
            <a:r>
              <a:rPr lang="zh-TW" altLang="en-US" dirty="0">
                <a:highlight>
                  <a:srgbClr val="C0C0C0"/>
                </a:highlight>
              </a:rPr>
              <a:t>神經網路物件</a:t>
            </a:r>
          </a:p>
          <a:p>
            <a:r>
              <a:rPr lang="zh-TW" altLang="en-US" dirty="0"/>
              <a:t>通常我們會建構一個繼承</a:t>
            </a:r>
            <a:r>
              <a:rPr lang="en-US" altLang="zh-TW" dirty="0" err="1"/>
              <a:t>nn.Module</a:t>
            </a:r>
            <a:r>
              <a:rPr lang="en-US" altLang="zh-TW" dirty="0"/>
              <a:t> </a:t>
            </a:r>
            <a:r>
              <a:rPr lang="zh-TW" altLang="en-US" dirty="0"/>
              <a:t>的類別，並宣告一個這個類別的物件作為神經網路。</a:t>
            </a:r>
          </a:p>
          <a:p>
            <a:r>
              <a:rPr lang="zh-TW" altLang="en-US" dirty="0"/>
              <a:t>在這個神經網路架構中，我們會用到以下兩個物件：</a:t>
            </a:r>
            <a:endParaRPr lang="en-US" altLang="zh-TW" dirty="0"/>
          </a:p>
          <a:p>
            <a:pPr lvl="1"/>
            <a:r>
              <a:rPr lang="en-US" altLang="zh-TW" dirty="0" err="1"/>
              <a:t>nn.Linear</a:t>
            </a:r>
            <a:r>
              <a:rPr lang="en-US" altLang="zh-TW" dirty="0"/>
              <a:t>(</a:t>
            </a:r>
            <a:r>
              <a:rPr lang="en-US" altLang="zh-TW" dirty="0" err="1"/>
              <a:t>input_size</a:t>
            </a:r>
            <a:r>
              <a:rPr lang="en-US" altLang="zh-TW" dirty="0"/>
              <a:t>, </a:t>
            </a:r>
            <a:r>
              <a:rPr lang="en-US" altLang="zh-TW" dirty="0" err="1"/>
              <a:t>output_size</a:t>
            </a:r>
            <a:r>
              <a:rPr lang="en-US" altLang="zh-TW" dirty="0"/>
              <a:t>)</a:t>
            </a:r>
            <a:r>
              <a:rPr lang="zh-TW" altLang="en-US" dirty="0"/>
              <a:t>：全連接層</a:t>
            </a:r>
            <a:endParaRPr lang="en-US" altLang="zh-TW" dirty="0"/>
          </a:p>
          <a:p>
            <a:pPr lvl="2"/>
            <a:r>
              <a:rPr lang="en-US" altLang="zh-TW" dirty="0" err="1"/>
              <a:t>input_size</a:t>
            </a:r>
            <a:r>
              <a:rPr lang="zh-TW" altLang="en-US" dirty="0"/>
              <a:t>：前層神經元個數</a:t>
            </a:r>
            <a:endParaRPr lang="en-US" altLang="zh-TW" dirty="0"/>
          </a:p>
          <a:p>
            <a:pPr lvl="2"/>
            <a:r>
              <a:rPr lang="en-US" altLang="zh-TW" dirty="0" err="1"/>
              <a:t>output_size</a:t>
            </a:r>
            <a:r>
              <a:rPr lang="zh-TW" altLang="en-US" dirty="0"/>
              <a:t>：後層神經元個數</a:t>
            </a:r>
          </a:p>
          <a:p>
            <a:pPr lvl="1"/>
            <a:r>
              <a:rPr lang="en-US" altLang="zh-TW" dirty="0" err="1"/>
              <a:t>nn.ReLU</a:t>
            </a:r>
            <a:r>
              <a:rPr lang="en-US" altLang="zh-TW" dirty="0"/>
              <a:t>()</a:t>
            </a:r>
            <a:r>
              <a:rPr lang="zh-TW" altLang="en-US" dirty="0"/>
              <a:t>：</a:t>
            </a:r>
            <a:r>
              <a:rPr lang="en-US" altLang="zh-TW" dirty="0" err="1"/>
              <a:t>ReLU</a:t>
            </a:r>
            <a:r>
              <a:rPr lang="zh-TW" altLang="en-US" dirty="0"/>
              <a:t>函數</a:t>
            </a:r>
          </a:p>
        </p:txBody>
      </p:sp>
      <p:sp>
        <p:nvSpPr>
          <p:cNvPr id="4" name="投影片編號版面配置區 3">
            <a:extLst>
              <a:ext uri="{FF2B5EF4-FFF2-40B4-BE49-F238E27FC236}">
                <a16:creationId xmlns:a16="http://schemas.microsoft.com/office/drawing/2014/main" id="{73EB1A54-A54E-488A-8C3D-C1A946E6B93A}"/>
              </a:ext>
            </a:extLst>
          </p:cNvPr>
          <p:cNvSpPr>
            <a:spLocks noGrp="1"/>
          </p:cNvSpPr>
          <p:nvPr>
            <p:ph type="sldNum" sz="quarter" idx="12"/>
          </p:nvPr>
        </p:nvSpPr>
        <p:spPr/>
        <p:txBody>
          <a:bodyPr/>
          <a:lstStyle/>
          <a:p>
            <a:fld id="{33E4D947-4B0C-4C4C-8502-CC34B2016046}" type="slidenum">
              <a:rPr lang="zh-TW" altLang="en-US" smtClean="0"/>
              <a:t>5</a:t>
            </a:fld>
            <a:endParaRPr lang="zh-TW" altLang="en-US"/>
          </a:p>
        </p:txBody>
      </p:sp>
    </p:spTree>
    <p:extLst>
      <p:ext uri="{BB962C8B-B14F-4D97-AF65-F5344CB8AC3E}">
        <p14:creationId xmlns:p14="http://schemas.microsoft.com/office/powerpoint/2010/main" val="4092030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E8890E-A201-40A9-A6F8-1DD8E2BF4C6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78E0611-16A0-4869-8E50-D2EF2A6772F4}"/>
              </a:ext>
            </a:extLst>
          </p:cNvPr>
          <p:cNvSpPr>
            <a:spLocks noGrp="1"/>
          </p:cNvSpPr>
          <p:nvPr>
            <p:ph idx="1"/>
          </p:nvPr>
        </p:nvSpPr>
        <p:spPr/>
        <p:txBody>
          <a:bodyPr/>
          <a:lstStyle/>
          <a:p>
            <a:r>
              <a:rPr lang="zh-TW" altLang="en-US" dirty="0"/>
              <a:t>正向傳播的過程很方便，我們只要把宣告的物件當作函數，然後把輸入依序傳入各個物件，就會得到輸出。</a:t>
            </a:r>
            <a:r>
              <a:rPr lang="en-US" altLang="zh-TW" dirty="0"/>
              <a:t>torch</a:t>
            </a:r>
            <a:r>
              <a:rPr lang="zh-TW" altLang="en-US" dirty="0"/>
              <a:t>的張量又會記錄其運算過程，所以算得損失後可以沿著原途徑反向傳播，完成神經網路的修正。</a:t>
            </a:r>
          </a:p>
        </p:txBody>
      </p:sp>
      <p:sp>
        <p:nvSpPr>
          <p:cNvPr id="4" name="投影片編號版面配置區 3">
            <a:extLst>
              <a:ext uri="{FF2B5EF4-FFF2-40B4-BE49-F238E27FC236}">
                <a16:creationId xmlns:a16="http://schemas.microsoft.com/office/drawing/2014/main" id="{E24D891E-E553-4330-B1EE-19CE6492064B}"/>
              </a:ext>
            </a:extLst>
          </p:cNvPr>
          <p:cNvSpPr>
            <a:spLocks noGrp="1"/>
          </p:cNvSpPr>
          <p:nvPr>
            <p:ph type="sldNum" sz="quarter" idx="12"/>
          </p:nvPr>
        </p:nvSpPr>
        <p:spPr/>
        <p:txBody>
          <a:bodyPr/>
          <a:lstStyle/>
          <a:p>
            <a:fld id="{33E4D947-4B0C-4C4C-8502-CC34B2016046}" type="slidenum">
              <a:rPr lang="zh-TW" altLang="en-US" smtClean="0"/>
              <a:t>6</a:t>
            </a:fld>
            <a:endParaRPr lang="zh-TW" altLang="en-US"/>
          </a:p>
        </p:txBody>
      </p:sp>
    </p:spTree>
    <p:extLst>
      <p:ext uri="{BB962C8B-B14F-4D97-AF65-F5344CB8AC3E}">
        <p14:creationId xmlns:p14="http://schemas.microsoft.com/office/powerpoint/2010/main" val="1894575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6110E0-5CD5-4511-9BB9-40BA240CAA3C}"/>
              </a:ext>
            </a:extLst>
          </p:cNvPr>
          <p:cNvSpPr>
            <a:spLocks noGrp="1"/>
          </p:cNvSpPr>
          <p:nvPr>
            <p:ph type="title"/>
          </p:nvPr>
        </p:nvSpPr>
        <p:spPr/>
        <p:txBody>
          <a:bodyPr/>
          <a:lstStyle/>
          <a:p>
            <a:endParaRPr lang="zh-TW" altLang="en-US"/>
          </a:p>
        </p:txBody>
      </p:sp>
      <p:sp>
        <p:nvSpPr>
          <p:cNvPr id="4" name="投影片編號版面配置區 3">
            <a:extLst>
              <a:ext uri="{FF2B5EF4-FFF2-40B4-BE49-F238E27FC236}">
                <a16:creationId xmlns:a16="http://schemas.microsoft.com/office/drawing/2014/main" id="{E62B1DA8-468B-4DCC-A0A4-475A58870D33}"/>
              </a:ext>
            </a:extLst>
          </p:cNvPr>
          <p:cNvSpPr>
            <a:spLocks noGrp="1"/>
          </p:cNvSpPr>
          <p:nvPr>
            <p:ph type="sldNum" sz="quarter" idx="12"/>
          </p:nvPr>
        </p:nvSpPr>
        <p:spPr/>
        <p:txBody>
          <a:bodyPr/>
          <a:lstStyle/>
          <a:p>
            <a:fld id="{33E4D947-4B0C-4C4C-8502-CC34B2016046}" type="slidenum">
              <a:rPr lang="zh-TW" altLang="en-US" smtClean="0"/>
              <a:t>7</a:t>
            </a:fld>
            <a:endParaRPr lang="zh-TW" altLang="en-US"/>
          </a:p>
        </p:txBody>
      </p:sp>
      <p:pic>
        <p:nvPicPr>
          <p:cNvPr id="6" name="圖片 5">
            <a:extLst>
              <a:ext uri="{FF2B5EF4-FFF2-40B4-BE49-F238E27FC236}">
                <a16:creationId xmlns:a16="http://schemas.microsoft.com/office/drawing/2014/main" id="{E9CCC0B8-2E5D-4BC8-BE38-62015F2B3B91}"/>
              </a:ext>
            </a:extLst>
          </p:cNvPr>
          <p:cNvPicPr>
            <a:picLocks noChangeAspect="1"/>
          </p:cNvPicPr>
          <p:nvPr/>
        </p:nvPicPr>
        <p:blipFill>
          <a:blip r:embed="rId2"/>
          <a:stretch>
            <a:fillRect/>
          </a:stretch>
        </p:blipFill>
        <p:spPr>
          <a:xfrm>
            <a:off x="628650" y="89755"/>
            <a:ext cx="6579888" cy="6768245"/>
          </a:xfrm>
          <a:prstGeom prst="rect">
            <a:avLst/>
          </a:prstGeom>
        </p:spPr>
      </p:pic>
    </p:spTree>
    <p:extLst>
      <p:ext uri="{BB962C8B-B14F-4D97-AF65-F5344CB8AC3E}">
        <p14:creationId xmlns:p14="http://schemas.microsoft.com/office/powerpoint/2010/main" val="4041439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8861EEA-2BAD-4F39-AFE1-F8CA47E81444}"/>
              </a:ext>
            </a:extLst>
          </p:cNvPr>
          <p:cNvSpPr>
            <a:spLocks noGrp="1"/>
          </p:cNvSpPr>
          <p:nvPr>
            <p:ph idx="1"/>
          </p:nvPr>
        </p:nvSpPr>
        <p:spPr>
          <a:xfrm>
            <a:off x="575310" y="967740"/>
            <a:ext cx="7886700" cy="5033963"/>
          </a:xfrm>
        </p:spPr>
        <p:txBody>
          <a:bodyPr/>
          <a:lstStyle/>
          <a:p>
            <a:r>
              <a:rPr lang="zh-TW" altLang="en-US" dirty="0"/>
              <a:t>上面宣告的類別，會建構一個輸入層有</a:t>
            </a:r>
            <a:r>
              <a:rPr lang="en-US" altLang="zh-TW" dirty="0" err="1"/>
              <a:t>input_size</a:t>
            </a:r>
            <a:r>
              <a:rPr lang="zh-TW" altLang="en-US" dirty="0"/>
              <a:t>個神經元（以</a:t>
            </a:r>
            <a:r>
              <a:rPr lang="en-US" altLang="zh-TW" dirty="0"/>
              <a:t>MNIST</a:t>
            </a:r>
            <a:r>
              <a:rPr lang="zh-TW" altLang="en-US" dirty="0"/>
              <a:t>每張圖片大小為</a:t>
            </a:r>
            <a:r>
              <a:rPr lang="en-US" altLang="zh-TW" dirty="0"/>
              <a:t>28×28</a:t>
            </a:r>
            <a:r>
              <a:rPr lang="zh-TW" altLang="en-US" dirty="0"/>
              <a:t>來說會是</a:t>
            </a:r>
            <a:r>
              <a:rPr lang="en-US" altLang="zh-TW" dirty="0"/>
              <a:t>784</a:t>
            </a:r>
            <a:r>
              <a:rPr lang="zh-TW" altLang="en-US" dirty="0"/>
              <a:t>個），兩層隱藏層依序有</a:t>
            </a:r>
            <a:r>
              <a:rPr lang="en-US" altLang="zh-TW" dirty="0"/>
              <a:t>256</a:t>
            </a:r>
            <a:r>
              <a:rPr lang="zh-TW" altLang="en-US" dirty="0"/>
              <a:t>和</a:t>
            </a:r>
            <a:r>
              <a:rPr lang="en-US" altLang="zh-TW" dirty="0"/>
              <a:t>128</a:t>
            </a:r>
            <a:r>
              <a:rPr lang="zh-TW" altLang="en-US" dirty="0"/>
              <a:t>個神經元，輸出層則對應分類數，僅有</a:t>
            </a:r>
            <a:r>
              <a:rPr lang="en-US" altLang="zh-TW" dirty="0"/>
              <a:t>10</a:t>
            </a:r>
            <a:r>
              <a:rPr lang="zh-TW" altLang="en-US" dirty="0"/>
              <a:t>個神經元。這個神經網路的架構，可以參考下方的圖片。</a:t>
            </a:r>
          </a:p>
        </p:txBody>
      </p:sp>
      <p:sp>
        <p:nvSpPr>
          <p:cNvPr id="4" name="投影片編號版面配置區 3">
            <a:extLst>
              <a:ext uri="{FF2B5EF4-FFF2-40B4-BE49-F238E27FC236}">
                <a16:creationId xmlns:a16="http://schemas.microsoft.com/office/drawing/2014/main" id="{9EBE9E92-3427-4779-8393-371C853253AF}"/>
              </a:ext>
            </a:extLst>
          </p:cNvPr>
          <p:cNvSpPr>
            <a:spLocks noGrp="1"/>
          </p:cNvSpPr>
          <p:nvPr>
            <p:ph type="sldNum" sz="quarter" idx="12"/>
          </p:nvPr>
        </p:nvSpPr>
        <p:spPr/>
        <p:txBody>
          <a:bodyPr/>
          <a:lstStyle/>
          <a:p>
            <a:fld id="{33E4D947-4B0C-4C4C-8502-CC34B2016046}" type="slidenum">
              <a:rPr lang="zh-TW" altLang="en-US" smtClean="0"/>
              <a:t>8</a:t>
            </a:fld>
            <a:endParaRPr lang="zh-TW" altLang="en-US"/>
          </a:p>
        </p:txBody>
      </p:sp>
      <p:pic>
        <p:nvPicPr>
          <p:cNvPr id="6" name="圖片 5">
            <a:extLst>
              <a:ext uri="{FF2B5EF4-FFF2-40B4-BE49-F238E27FC236}">
                <a16:creationId xmlns:a16="http://schemas.microsoft.com/office/drawing/2014/main" id="{F08207F8-4F10-46FC-AA1A-D4506180A1E8}"/>
              </a:ext>
            </a:extLst>
          </p:cNvPr>
          <p:cNvPicPr>
            <a:picLocks noChangeAspect="1"/>
          </p:cNvPicPr>
          <p:nvPr/>
        </p:nvPicPr>
        <p:blipFill>
          <a:blip r:embed="rId2"/>
          <a:stretch>
            <a:fillRect/>
          </a:stretch>
        </p:blipFill>
        <p:spPr>
          <a:xfrm>
            <a:off x="1612174" y="3429000"/>
            <a:ext cx="6270171" cy="2969623"/>
          </a:xfrm>
          <a:prstGeom prst="rect">
            <a:avLst/>
          </a:prstGeom>
        </p:spPr>
      </p:pic>
    </p:spTree>
    <p:extLst>
      <p:ext uri="{BB962C8B-B14F-4D97-AF65-F5344CB8AC3E}">
        <p14:creationId xmlns:p14="http://schemas.microsoft.com/office/powerpoint/2010/main" val="181229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25A934D-EFA0-445F-8E04-7295572E819B}"/>
              </a:ext>
            </a:extLst>
          </p:cNvPr>
          <p:cNvSpPr>
            <a:spLocks noGrp="1"/>
          </p:cNvSpPr>
          <p:nvPr>
            <p:ph idx="1"/>
          </p:nvPr>
        </p:nvSpPr>
        <p:spPr>
          <a:xfrm>
            <a:off x="392430" y="774065"/>
            <a:ext cx="8576310" cy="4351338"/>
          </a:xfrm>
        </p:spPr>
        <p:txBody>
          <a:bodyPr>
            <a:normAutofit fontScale="92500"/>
          </a:bodyPr>
          <a:lstStyle/>
          <a:p>
            <a:r>
              <a:rPr lang="zh-TW" altLang="en-US" dirty="0">
                <a:highlight>
                  <a:srgbClr val="C0C0C0"/>
                </a:highlight>
              </a:rPr>
              <a:t>超參數</a:t>
            </a:r>
          </a:p>
          <a:p>
            <a:r>
              <a:rPr lang="zh-TW" altLang="en-US" dirty="0"/>
              <a:t>這個小節一開始我們提到深度學習需要一些外部參數來人工校正訓練，而這些不會被訓練的參數又被稱為超參數（</a:t>
            </a:r>
            <a:r>
              <a:rPr lang="en-US" altLang="zh-TW" dirty="0"/>
              <a:t>hyperparameter</a:t>
            </a:r>
            <a:r>
              <a:rPr lang="zh-TW" altLang="en-US" dirty="0"/>
              <a:t>）。</a:t>
            </a:r>
            <a:endParaRPr lang="en-US" altLang="zh-TW" dirty="0"/>
          </a:p>
          <a:p>
            <a:r>
              <a:rPr lang="zh-TW" altLang="en-US" dirty="0"/>
              <a:t>常見的超參數包含批次大小</a:t>
            </a:r>
            <a:r>
              <a:rPr lang="en-US" altLang="zh-TW" dirty="0" err="1"/>
              <a:t>batch_size</a:t>
            </a:r>
            <a:r>
              <a:rPr lang="zh-TW" altLang="en-US" dirty="0"/>
              <a:t>，學習率</a:t>
            </a:r>
            <a:r>
              <a:rPr lang="en-US" altLang="zh-TW" dirty="0" err="1"/>
              <a:t>lr</a:t>
            </a:r>
            <a:r>
              <a:rPr lang="zh-TW" altLang="en-US" dirty="0"/>
              <a:t>與訓練週期數</a:t>
            </a:r>
            <a:r>
              <a:rPr lang="en-US" altLang="zh-TW" dirty="0"/>
              <a:t>epochs</a:t>
            </a:r>
            <a:r>
              <a:rPr lang="zh-TW" altLang="en-US" dirty="0"/>
              <a:t>。當模型學習成果不穩定時，可能是</a:t>
            </a:r>
            <a:r>
              <a:rPr lang="en-US" altLang="zh-TW" dirty="0" err="1"/>
              <a:t>batch_size</a:t>
            </a:r>
            <a:r>
              <a:rPr lang="zh-TW" altLang="en-US" dirty="0"/>
              <a:t>太小讓離群樣本影響訓練，可以考慮調大</a:t>
            </a:r>
            <a:r>
              <a:rPr lang="en-US" altLang="zh-TW" dirty="0" err="1"/>
              <a:t>batch_size</a:t>
            </a:r>
            <a:r>
              <a:rPr lang="zh-TW" altLang="en-US" dirty="0"/>
              <a:t>。如果是學習不完全，例如損失還沒完全收斂，可能是學習率太小或訓練不夠多次，可以考慮調大</a:t>
            </a:r>
            <a:r>
              <a:rPr lang="en-US" altLang="zh-TW" dirty="0" err="1"/>
              <a:t>lr</a:t>
            </a:r>
            <a:r>
              <a:rPr lang="zh-TW" altLang="en-US" dirty="0"/>
              <a:t>或</a:t>
            </a:r>
            <a:r>
              <a:rPr lang="en-US" altLang="zh-TW" dirty="0"/>
              <a:t>epochs</a:t>
            </a:r>
            <a:r>
              <a:rPr lang="zh-TW" altLang="en-US" dirty="0"/>
              <a:t>。調整超參數時，除了訓練後的模型表現，可能還要設想訓練時間和運算資源的使用多寡。</a:t>
            </a:r>
          </a:p>
        </p:txBody>
      </p:sp>
      <p:sp>
        <p:nvSpPr>
          <p:cNvPr id="4" name="投影片編號版面配置區 3">
            <a:extLst>
              <a:ext uri="{FF2B5EF4-FFF2-40B4-BE49-F238E27FC236}">
                <a16:creationId xmlns:a16="http://schemas.microsoft.com/office/drawing/2014/main" id="{857B0375-1A98-4044-8799-F90D4E12B647}"/>
              </a:ext>
            </a:extLst>
          </p:cNvPr>
          <p:cNvSpPr>
            <a:spLocks noGrp="1"/>
          </p:cNvSpPr>
          <p:nvPr>
            <p:ph type="sldNum" sz="quarter" idx="12"/>
          </p:nvPr>
        </p:nvSpPr>
        <p:spPr/>
        <p:txBody>
          <a:bodyPr/>
          <a:lstStyle/>
          <a:p>
            <a:fld id="{33E4D947-4B0C-4C4C-8502-CC34B2016046}" type="slidenum">
              <a:rPr lang="zh-TW" altLang="en-US" smtClean="0"/>
              <a:t>9</a:t>
            </a:fld>
            <a:endParaRPr lang="zh-TW" altLang="en-US"/>
          </a:p>
        </p:txBody>
      </p:sp>
      <p:pic>
        <p:nvPicPr>
          <p:cNvPr id="6" name="圖片 5">
            <a:extLst>
              <a:ext uri="{FF2B5EF4-FFF2-40B4-BE49-F238E27FC236}">
                <a16:creationId xmlns:a16="http://schemas.microsoft.com/office/drawing/2014/main" id="{B2C17FEA-D1CB-4D50-9909-F408F712AE93}"/>
              </a:ext>
            </a:extLst>
          </p:cNvPr>
          <p:cNvPicPr>
            <a:picLocks noChangeAspect="1"/>
          </p:cNvPicPr>
          <p:nvPr/>
        </p:nvPicPr>
        <p:blipFill>
          <a:blip r:embed="rId2"/>
          <a:stretch>
            <a:fillRect/>
          </a:stretch>
        </p:blipFill>
        <p:spPr>
          <a:xfrm>
            <a:off x="2686051" y="5066652"/>
            <a:ext cx="3088020" cy="1654824"/>
          </a:xfrm>
          <a:prstGeom prst="rect">
            <a:avLst/>
          </a:prstGeom>
        </p:spPr>
      </p:pic>
    </p:spTree>
    <p:extLst>
      <p:ext uri="{BB962C8B-B14F-4D97-AF65-F5344CB8AC3E}">
        <p14:creationId xmlns:p14="http://schemas.microsoft.com/office/powerpoint/2010/main" val="104177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4C2F51F-1E52-40DD-A8AD-497FEFBD9213}"/>
              </a:ext>
            </a:extLst>
          </p:cNvPr>
          <p:cNvSpPr>
            <a:spLocks noGrp="1"/>
          </p:cNvSpPr>
          <p:nvPr>
            <p:ph idx="1"/>
          </p:nvPr>
        </p:nvSpPr>
        <p:spPr>
          <a:xfrm>
            <a:off x="514350" y="926465"/>
            <a:ext cx="7886700" cy="4351338"/>
          </a:xfrm>
        </p:spPr>
        <p:txBody>
          <a:bodyPr>
            <a:normAutofit fontScale="92500" lnSpcReduction="10000"/>
          </a:bodyPr>
          <a:lstStyle/>
          <a:p>
            <a:r>
              <a:rPr lang="zh-TW" altLang="en-US" dirty="0">
                <a:highlight>
                  <a:srgbClr val="C0C0C0"/>
                </a:highlight>
              </a:rPr>
              <a:t>損失函數與梯度優化</a:t>
            </a:r>
          </a:p>
          <a:p>
            <a:r>
              <a:rPr lang="zh-TW" altLang="en-US" dirty="0"/>
              <a:t>建構完神經網路的類別之後，我們宣告一個物件</a:t>
            </a:r>
            <a:r>
              <a:rPr lang="en-US" altLang="zh-TW" dirty="0"/>
              <a:t>NN</a:t>
            </a:r>
            <a:r>
              <a:rPr lang="zh-TW" altLang="en-US" dirty="0"/>
              <a:t>作為我們的神經網路。另外，我們還需要定義損失函數和梯度優化方式。</a:t>
            </a:r>
          </a:p>
          <a:p>
            <a:r>
              <a:rPr lang="zh-TW" altLang="en-US" dirty="0"/>
              <a:t>如同前一章的補充所述，我們會使用近年較為主流的交叉熵損失函數及</a:t>
            </a:r>
            <a:r>
              <a:rPr lang="en-US" altLang="zh-TW" dirty="0"/>
              <a:t>Adam</a:t>
            </a:r>
            <a:r>
              <a:rPr lang="zh-TW" altLang="en-US" dirty="0"/>
              <a:t>梯度優化，對應到的函式如下：</a:t>
            </a:r>
          </a:p>
          <a:p>
            <a:r>
              <a:rPr lang="en-US" altLang="zh-TW" dirty="0" err="1"/>
              <a:t>nn.CrossEntropyLoss</a:t>
            </a:r>
            <a:r>
              <a:rPr lang="en-US" altLang="zh-TW" dirty="0"/>
              <a:t>()</a:t>
            </a:r>
            <a:r>
              <a:rPr lang="zh-TW" altLang="en-US" dirty="0"/>
              <a:t>：交叉熵損失函數</a:t>
            </a:r>
          </a:p>
          <a:p>
            <a:r>
              <a:rPr lang="en-US" altLang="zh-TW" dirty="0" err="1"/>
              <a:t>optim.Adam</a:t>
            </a:r>
            <a:r>
              <a:rPr lang="en-US" altLang="zh-TW" dirty="0"/>
              <a:t>(params, </a:t>
            </a:r>
            <a:r>
              <a:rPr lang="en-US" altLang="zh-TW" dirty="0" err="1"/>
              <a:t>lr</a:t>
            </a:r>
            <a:r>
              <a:rPr lang="en-US" altLang="zh-TW" dirty="0"/>
              <a:t>)</a:t>
            </a:r>
            <a:r>
              <a:rPr lang="zh-TW" altLang="en-US" dirty="0"/>
              <a:t>：</a:t>
            </a:r>
            <a:r>
              <a:rPr lang="en-US" altLang="zh-TW" dirty="0"/>
              <a:t>Adam</a:t>
            </a:r>
            <a:r>
              <a:rPr lang="zh-TW" altLang="en-US" dirty="0"/>
              <a:t>優化</a:t>
            </a:r>
          </a:p>
          <a:p>
            <a:pPr lvl="1"/>
            <a:r>
              <a:rPr lang="en-US" altLang="zh-TW" dirty="0"/>
              <a:t>params</a:t>
            </a:r>
            <a:r>
              <a:rPr lang="zh-TW" altLang="en-US" dirty="0"/>
              <a:t>：神經網路參數</a:t>
            </a:r>
          </a:p>
          <a:p>
            <a:pPr lvl="1"/>
            <a:r>
              <a:rPr lang="en-US" altLang="zh-TW" dirty="0" err="1"/>
              <a:t>lr</a:t>
            </a:r>
            <a:r>
              <a:rPr lang="en-US" altLang="zh-TW" dirty="0"/>
              <a:t>(learning rate)</a:t>
            </a:r>
            <a:r>
              <a:rPr lang="zh-TW" altLang="en-US" dirty="0"/>
              <a:t>：學習率</a:t>
            </a:r>
          </a:p>
        </p:txBody>
      </p:sp>
      <p:sp>
        <p:nvSpPr>
          <p:cNvPr id="4" name="投影片編號版面配置區 3">
            <a:extLst>
              <a:ext uri="{FF2B5EF4-FFF2-40B4-BE49-F238E27FC236}">
                <a16:creationId xmlns:a16="http://schemas.microsoft.com/office/drawing/2014/main" id="{573082A0-A61D-4766-9A08-2E203033461E}"/>
              </a:ext>
            </a:extLst>
          </p:cNvPr>
          <p:cNvSpPr>
            <a:spLocks noGrp="1"/>
          </p:cNvSpPr>
          <p:nvPr>
            <p:ph type="sldNum" sz="quarter" idx="12"/>
          </p:nvPr>
        </p:nvSpPr>
        <p:spPr/>
        <p:txBody>
          <a:bodyPr/>
          <a:lstStyle/>
          <a:p>
            <a:fld id="{33E4D947-4B0C-4C4C-8502-CC34B2016046}" type="slidenum">
              <a:rPr lang="zh-TW" altLang="en-US" smtClean="0"/>
              <a:t>10</a:t>
            </a:fld>
            <a:endParaRPr lang="zh-TW" altLang="en-US"/>
          </a:p>
        </p:txBody>
      </p:sp>
      <p:pic>
        <p:nvPicPr>
          <p:cNvPr id="6" name="圖片 5">
            <a:extLst>
              <a:ext uri="{FF2B5EF4-FFF2-40B4-BE49-F238E27FC236}">
                <a16:creationId xmlns:a16="http://schemas.microsoft.com/office/drawing/2014/main" id="{B243E58B-98C6-4E9C-9F23-C70AC2255092}"/>
              </a:ext>
            </a:extLst>
          </p:cNvPr>
          <p:cNvPicPr>
            <a:picLocks noChangeAspect="1"/>
          </p:cNvPicPr>
          <p:nvPr/>
        </p:nvPicPr>
        <p:blipFill>
          <a:blip r:embed="rId2"/>
          <a:stretch>
            <a:fillRect/>
          </a:stretch>
        </p:blipFill>
        <p:spPr>
          <a:xfrm>
            <a:off x="174200" y="5133334"/>
            <a:ext cx="8795600" cy="1130306"/>
          </a:xfrm>
          <a:prstGeom prst="rect">
            <a:avLst/>
          </a:prstGeom>
        </p:spPr>
      </p:pic>
    </p:spTree>
    <p:extLst>
      <p:ext uri="{BB962C8B-B14F-4D97-AF65-F5344CB8AC3E}">
        <p14:creationId xmlns:p14="http://schemas.microsoft.com/office/powerpoint/2010/main" val="2380835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687AC7-3E40-4B67-BCA1-734E159A823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02E93DC-21A7-4B4D-B968-196A1E0549A4}"/>
              </a:ext>
            </a:extLst>
          </p:cNvPr>
          <p:cNvSpPr>
            <a:spLocks noGrp="1"/>
          </p:cNvSpPr>
          <p:nvPr>
            <p:ph idx="1"/>
          </p:nvPr>
        </p:nvSpPr>
        <p:spPr/>
        <p:txBody>
          <a:bodyPr/>
          <a:lstStyle/>
          <a:p>
            <a:pPr>
              <a:buFont typeface="Wingdings" panose="05000000000000000000" pitchFamily="2" charset="2"/>
              <a:buChar char="Ø"/>
            </a:pPr>
            <a:r>
              <a:rPr lang="en-US" altLang="zh-TW" dirty="0"/>
              <a:t>7.1.2 MNIST</a:t>
            </a:r>
            <a:r>
              <a:rPr lang="zh-TW" altLang="en-US" dirty="0"/>
              <a:t>手寫數字資料集</a:t>
            </a:r>
          </a:p>
          <a:p>
            <a:r>
              <a:rPr lang="en-US" altLang="zh-TW" dirty="0"/>
              <a:t>MNIST</a:t>
            </a:r>
            <a:r>
              <a:rPr lang="zh-TW" altLang="en-US" dirty="0"/>
              <a:t>手寫數字資料集是手寫數字的大型數據庫。數據庫中的圖片都是大小</a:t>
            </a:r>
            <a:r>
              <a:rPr lang="en-US" altLang="zh-TW" dirty="0"/>
              <a:t>28×28</a:t>
            </a:r>
            <a:r>
              <a:rPr lang="zh-TW" altLang="en-US" dirty="0"/>
              <a:t>像素並含有一位手寫數字之</a:t>
            </a:r>
            <a:r>
              <a:rPr lang="en-US" altLang="zh-TW" dirty="0"/>
              <a:t>8</a:t>
            </a:r>
            <a:r>
              <a:rPr lang="zh-TW" altLang="en-US" dirty="0"/>
              <a:t>位元灰階影像。</a:t>
            </a:r>
            <a:endParaRPr lang="en-US" altLang="zh-TW" dirty="0"/>
          </a:p>
          <a:p>
            <a:r>
              <a:rPr lang="zh-TW" altLang="en-US" dirty="0"/>
              <a:t>由於資料處理方便，分類少且明確（</a:t>
            </a:r>
            <a:r>
              <a:rPr lang="en-US" altLang="zh-TW" dirty="0"/>
              <a:t>0∼9</a:t>
            </a:r>
            <a:r>
              <a:rPr lang="zh-TW" altLang="en-US" dirty="0"/>
              <a:t>共</a:t>
            </a:r>
            <a:r>
              <a:rPr lang="en-US" altLang="zh-TW" dirty="0"/>
              <a:t>10</a:t>
            </a:r>
            <a:r>
              <a:rPr lang="zh-TW" altLang="en-US" dirty="0"/>
              <a:t>個數字），建構</a:t>
            </a:r>
            <a:r>
              <a:rPr lang="en-US" altLang="zh-TW" dirty="0"/>
              <a:t>MNIST</a:t>
            </a:r>
            <a:r>
              <a:rPr lang="zh-TW" altLang="en-US" dirty="0"/>
              <a:t>資料庫手寫數字辨識的神經網路通常被認定為神經網路的</a:t>
            </a:r>
            <a:r>
              <a:rPr lang="en-US" altLang="zh-TW" dirty="0"/>
              <a:t>Hello World!</a:t>
            </a:r>
            <a:r>
              <a:rPr lang="zh-TW" altLang="en-US" dirty="0"/>
              <a:t>問題。而我們也將以這個資料集的資料，實作我們的第一個神經網路。</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72DCD5E2-6FE6-4EE0-9EED-AA22B1FC2237}"/>
              </a:ext>
            </a:extLst>
          </p:cNvPr>
          <p:cNvSpPr>
            <a:spLocks noGrp="1"/>
          </p:cNvSpPr>
          <p:nvPr>
            <p:ph type="sldNum" sz="quarter" idx="12"/>
          </p:nvPr>
        </p:nvSpPr>
        <p:spPr/>
        <p:txBody>
          <a:bodyPr/>
          <a:lstStyle/>
          <a:p>
            <a:fld id="{33E4D947-4B0C-4C4C-8502-CC34B2016046}" type="slidenum">
              <a:rPr lang="zh-TW" altLang="en-US" smtClean="0"/>
              <a:t>11</a:t>
            </a:fld>
            <a:endParaRPr lang="zh-TW" altLang="en-US"/>
          </a:p>
        </p:txBody>
      </p:sp>
    </p:spTree>
    <p:extLst>
      <p:ext uri="{BB962C8B-B14F-4D97-AF65-F5344CB8AC3E}">
        <p14:creationId xmlns:p14="http://schemas.microsoft.com/office/powerpoint/2010/main" val="3313284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58E2D0-6008-4883-A5EC-4026CD7A89CA}"/>
              </a:ext>
            </a:extLst>
          </p:cNvPr>
          <p:cNvSpPr>
            <a:spLocks noGrp="1"/>
          </p:cNvSpPr>
          <p:nvPr>
            <p:ph type="title"/>
          </p:nvPr>
        </p:nvSpPr>
        <p:spPr/>
        <p:txBody>
          <a:bodyPr/>
          <a:lstStyle/>
          <a:p>
            <a:endParaRPr lang="zh-TW" altLang="en-US"/>
          </a:p>
        </p:txBody>
      </p:sp>
      <p:pic>
        <p:nvPicPr>
          <p:cNvPr id="6" name="內容版面配置區 5">
            <a:extLst>
              <a:ext uri="{FF2B5EF4-FFF2-40B4-BE49-F238E27FC236}">
                <a16:creationId xmlns:a16="http://schemas.microsoft.com/office/drawing/2014/main" id="{ECB4FB20-7148-488E-819F-7EEC67A181FC}"/>
              </a:ext>
            </a:extLst>
          </p:cNvPr>
          <p:cNvPicPr>
            <a:picLocks noGrp="1" noChangeAspect="1"/>
          </p:cNvPicPr>
          <p:nvPr>
            <p:ph idx="1"/>
          </p:nvPr>
        </p:nvPicPr>
        <p:blipFill>
          <a:blip r:embed="rId2"/>
          <a:stretch>
            <a:fillRect/>
          </a:stretch>
        </p:blipFill>
        <p:spPr>
          <a:xfrm>
            <a:off x="464578" y="925740"/>
            <a:ext cx="8214843" cy="4796880"/>
          </a:xfrm>
        </p:spPr>
      </p:pic>
      <p:sp>
        <p:nvSpPr>
          <p:cNvPr id="4" name="投影片編號版面配置區 3">
            <a:extLst>
              <a:ext uri="{FF2B5EF4-FFF2-40B4-BE49-F238E27FC236}">
                <a16:creationId xmlns:a16="http://schemas.microsoft.com/office/drawing/2014/main" id="{97C8F851-A9B4-4DF2-80FA-295040E02597}"/>
              </a:ext>
            </a:extLst>
          </p:cNvPr>
          <p:cNvSpPr>
            <a:spLocks noGrp="1"/>
          </p:cNvSpPr>
          <p:nvPr>
            <p:ph type="sldNum" sz="quarter" idx="12"/>
          </p:nvPr>
        </p:nvSpPr>
        <p:spPr/>
        <p:txBody>
          <a:bodyPr/>
          <a:lstStyle/>
          <a:p>
            <a:fld id="{33E4D947-4B0C-4C4C-8502-CC34B2016046}" type="slidenum">
              <a:rPr lang="zh-TW" altLang="en-US" smtClean="0"/>
              <a:t>12</a:t>
            </a:fld>
            <a:endParaRPr lang="zh-TW" altLang="en-US"/>
          </a:p>
        </p:txBody>
      </p:sp>
    </p:spTree>
    <p:extLst>
      <p:ext uri="{BB962C8B-B14F-4D97-AF65-F5344CB8AC3E}">
        <p14:creationId xmlns:p14="http://schemas.microsoft.com/office/powerpoint/2010/main" val="3847209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0837819-95AA-4E6E-90EC-9724BD63B31F}"/>
              </a:ext>
            </a:extLst>
          </p:cNvPr>
          <p:cNvSpPr>
            <a:spLocks noGrp="1"/>
          </p:cNvSpPr>
          <p:nvPr>
            <p:ph idx="1"/>
          </p:nvPr>
        </p:nvSpPr>
        <p:spPr>
          <a:xfrm>
            <a:off x="390299" y="723900"/>
            <a:ext cx="8538210" cy="5224463"/>
          </a:xfrm>
        </p:spPr>
        <p:txBody>
          <a:bodyPr>
            <a:normAutofit/>
          </a:bodyPr>
          <a:lstStyle/>
          <a:p>
            <a:r>
              <a:rPr lang="zh-TW" altLang="en-US" dirty="0">
                <a:highlight>
                  <a:srgbClr val="C0C0C0"/>
                </a:highlight>
              </a:rPr>
              <a:t>載入資料集</a:t>
            </a:r>
          </a:p>
          <a:p>
            <a:r>
              <a:rPr lang="zh-TW" altLang="en-US" dirty="0"/>
              <a:t>我們用兩個函數引入</a:t>
            </a:r>
            <a:r>
              <a:rPr lang="en-US" altLang="zh-TW" dirty="0"/>
              <a:t>MNIST</a:t>
            </a:r>
            <a:r>
              <a:rPr lang="zh-TW" altLang="en-US" dirty="0"/>
              <a:t>資料集：</a:t>
            </a:r>
          </a:p>
          <a:p>
            <a:r>
              <a:rPr lang="en-US" altLang="zh-TW" dirty="0" err="1"/>
              <a:t>datasets.MNIST</a:t>
            </a:r>
            <a:r>
              <a:rPr lang="en-US" altLang="zh-TW" dirty="0"/>
              <a:t>(root, train, transform, download)</a:t>
            </a:r>
            <a:r>
              <a:rPr lang="zh-TW" altLang="en-US" dirty="0"/>
              <a:t>：回傳</a:t>
            </a:r>
            <a:r>
              <a:rPr lang="en-US" altLang="zh-TW" dirty="0"/>
              <a:t>MNIST</a:t>
            </a:r>
            <a:r>
              <a:rPr lang="zh-TW" altLang="en-US" dirty="0"/>
              <a:t>資料集</a:t>
            </a:r>
          </a:p>
          <a:p>
            <a:r>
              <a:rPr lang="en-US" altLang="zh-TW" dirty="0" err="1"/>
              <a:t>DataLoader</a:t>
            </a:r>
            <a:r>
              <a:rPr lang="en-US" altLang="zh-TW" dirty="0"/>
              <a:t>(dataset, </a:t>
            </a:r>
            <a:r>
              <a:rPr lang="en-US" altLang="zh-TW" dirty="0" err="1"/>
              <a:t>batch_size</a:t>
            </a:r>
            <a:r>
              <a:rPr lang="en-US" altLang="zh-TW" dirty="0"/>
              <a:t>, shuffle = False)</a:t>
            </a:r>
            <a:r>
              <a:rPr lang="zh-TW" altLang="en-US" dirty="0"/>
              <a:t>：資料集迭代器</a:t>
            </a:r>
          </a:p>
          <a:p>
            <a:r>
              <a:rPr lang="zh-TW" altLang="en-US" dirty="0"/>
              <a:t>如同前面所提到的，我們會把訓練的資料分成訓練集和測試集。</a:t>
            </a:r>
          </a:p>
        </p:txBody>
      </p:sp>
      <p:sp>
        <p:nvSpPr>
          <p:cNvPr id="4" name="投影片編號版面配置區 3">
            <a:extLst>
              <a:ext uri="{FF2B5EF4-FFF2-40B4-BE49-F238E27FC236}">
                <a16:creationId xmlns:a16="http://schemas.microsoft.com/office/drawing/2014/main" id="{B0574CFB-E6E5-4E4E-B671-6E1A69CA88F7}"/>
              </a:ext>
            </a:extLst>
          </p:cNvPr>
          <p:cNvSpPr>
            <a:spLocks noGrp="1"/>
          </p:cNvSpPr>
          <p:nvPr>
            <p:ph type="sldNum" sz="quarter" idx="12"/>
          </p:nvPr>
        </p:nvSpPr>
        <p:spPr/>
        <p:txBody>
          <a:bodyPr/>
          <a:lstStyle/>
          <a:p>
            <a:fld id="{33E4D947-4B0C-4C4C-8502-CC34B2016046}" type="slidenum">
              <a:rPr lang="zh-TW" altLang="en-US" smtClean="0"/>
              <a:t>13</a:t>
            </a:fld>
            <a:endParaRPr lang="zh-TW" altLang="en-US"/>
          </a:p>
        </p:txBody>
      </p:sp>
      <p:pic>
        <p:nvPicPr>
          <p:cNvPr id="6" name="圖片 5">
            <a:extLst>
              <a:ext uri="{FF2B5EF4-FFF2-40B4-BE49-F238E27FC236}">
                <a16:creationId xmlns:a16="http://schemas.microsoft.com/office/drawing/2014/main" id="{364DD599-9625-4463-9648-EC0AE8F35187}"/>
              </a:ext>
            </a:extLst>
          </p:cNvPr>
          <p:cNvPicPr>
            <a:picLocks noChangeAspect="1"/>
          </p:cNvPicPr>
          <p:nvPr/>
        </p:nvPicPr>
        <p:blipFill>
          <a:blip r:embed="rId2"/>
          <a:stretch>
            <a:fillRect/>
          </a:stretch>
        </p:blipFill>
        <p:spPr>
          <a:xfrm>
            <a:off x="215490" y="4460862"/>
            <a:ext cx="8713019" cy="2260614"/>
          </a:xfrm>
          <a:prstGeom prst="rect">
            <a:avLst/>
          </a:prstGeom>
        </p:spPr>
      </p:pic>
    </p:spTree>
    <p:extLst>
      <p:ext uri="{BB962C8B-B14F-4D97-AF65-F5344CB8AC3E}">
        <p14:creationId xmlns:p14="http://schemas.microsoft.com/office/powerpoint/2010/main" val="4182183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C859BD3-41A6-49C3-9912-D1DF361A2544}"/>
              </a:ext>
            </a:extLst>
          </p:cNvPr>
          <p:cNvSpPr>
            <a:spLocks noGrp="1"/>
          </p:cNvSpPr>
          <p:nvPr>
            <p:ph idx="1"/>
          </p:nvPr>
        </p:nvSpPr>
        <p:spPr>
          <a:xfrm>
            <a:off x="365760" y="1135380"/>
            <a:ext cx="8488680" cy="5532119"/>
          </a:xfrm>
        </p:spPr>
        <p:txBody>
          <a:bodyPr>
            <a:normAutofit/>
          </a:bodyPr>
          <a:lstStyle/>
          <a:p>
            <a:pPr>
              <a:buFont typeface="Wingdings" panose="05000000000000000000" pitchFamily="2" charset="2"/>
              <a:buChar char="Ø"/>
            </a:pPr>
            <a:r>
              <a:rPr lang="en-US" altLang="zh-TW" dirty="0"/>
              <a:t>7.1.3 </a:t>
            </a:r>
            <a:r>
              <a:rPr lang="zh-TW" altLang="en-US" dirty="0"/>
              <a:t>模型視覺化</a:t>
            </a:r>
          </a:p>
          <a:p>
            <a:r>
              <a:rPr lang="zh-TW" altLang="en-US" dirty="0"/>
              <a:t>前幾個章節的實作中，我們清楚地了解到資料視覺化的重要性，因此以下我們寫一個函式，方便觀察模型的輸入與輸出。隨機選了五筆資料來看，會發現</a:t>
            </a:r>
            <a:r>
              <a:rPr lang="en-US" altLang="zh-TW" dirty="0"/>
              <a:t>MNIST</a:t>
            </a:r>
            <a:r>
              <a:rPr lang="zh-TW" altLang="en-US" dirty="0"/>
              <a:t>中的每筆資料如同上述，就是一張黑底白字的手寫數字加上一個</a:t>
            </a:r>
            <a:r>
              <a:rPr lang="en-US" altLang="zh-TW" dirty="0"/>
              <a:t>0∼9</a:t>
            </a:r>
            <a:r>
              <a:rPr lang="zh-TW" altLang="en-US" dirty="0"/>
              <a:t>的標籤。</a:t>
            </a:r>
          </a:p>
          <a:p>
            <a:r>
              <a:rPr lang="zh-TW" altLang="en-US" dirty="0"/>
              <a:t>下方的程式碼用了幾個</a:t>
            </a:r>
            <a:r>
              <a:rPr lang="en-US" altLang="zh-TW" dirty="0" err="1"/>
              <a:t>torch.Tensor</a:t>
            </a:r>
            <a:r>
              <a:rPr lang="zh-TW" altLang="en-US" dirty="0"/>
              <a:t>中實用的子函式：</a:t>
            </a:r>
          </a:p>
          <a:p>
            <a:pPr lvl="1"/>
            <a:r>
              <a:rPr lang="en-US" altLang="zh-TW" dirty="0"/>
              <a:t>flatten()</a:t>
            </a:r>
            <a:r>
              <a:rPr lang="zh-TW" altLang="en-US" dirty="0"/>
              <a:t>：把張量壓成一維張量，等價於</a:t>
            </a:r>
            <a:r>
              <a:rPr lang="en-US" altLang="zh-TW" dirty="0"/>
              <a:t>view(-1)</a:t>
            </a:r>
          </a:p>
          <a:p>
            <a:pPr lvl="1"/>
            <a:r>
              <a:rPr lang="en-US" altLang="zh-TW" dirty="0"/>
              <a:t>detach()</a:t>
            </a:r>
            <a:r>
              <a:rPr lang="zh-TW" altLang="en-US" dirty="0"/>
              <a:t>：如果某個張量是神經網路的運算結果，它會記錄反向傳播路徑來計算梯度，若要拿來做其他運算需要取得解除相關紀錄的張量</a:t>
            </a:r>
          </a:p>
          <a:p>
            <a:pPr lvl="1"/>
            <a:r>
              <a:rPr lang="en-US" altLang="zh-TW" dirty="0" err="1"/>
              <a:t>numpy</a:t>
            </a:r>
            <a:r>
              <a:rPr lang="en-US" altLang="zh-TW" dirty="0"/>
              <a:t>()</a:t>
            </a:r>
            <a:r>
              <a:rPr lang="zh-TW" altLang="en-US" dirty="0"/>
              <a:t>：將一個</a:t>
            </a:r>
            <a:r>
              <a:rPr lang="en-US" altLang="zh-TW" dirty="0"/>
              <a:t>torch</a:t>
            </a:r>
            <a:r>
              <a:rPr lang="zh-TW" altLang="en-US" dirty="0"/>
              <a:t>張量轉為</a:t>
            </a:r>
            <a:r>
              <a:rPr lang="en-US" altLang="zh-TW" dirty="0" err="1"/>
              <a:t>numpy</a:t>
            </a:r>
            <a:r>
              <a:rPr lang="zh-TW" altLang="en-US" dirty="0"/>
              <a:t>陣列，需要先</a:t>
            </a:r>
            <a:r>
              <a:rPr lang="en-US" altLang="zh-TW" dirty="0"/>
              <a:t>detach()</a:t>
            </a:r>
            <a:r>
              <a:rPr lang="zh-TW" altLang="en-US" dirty="0"/>
              <a:t>才能執行</a:t>
            </a:r>
          </a:p>
        </p:txBody>
      </p:sp>
      <p:sp>
        <p:nvSpPr>
          <p:cNvPr id="4" name="投影片編號版面配置區 3">
            <a:extLst>
              <a:ext uri="{FF2B5EF4-FFF2-40B4-BE49-F238E27FC236}">
                <a16:creationId xmlns:a16="http://schemas.microsoft.com/office/drawing/2014/main" id="{E954D5AF-C56E-4794-98B3-06CDD1C80A2D}"/>
              </a:ext>
            </a:extLst>
          </p:cNvPr>
          <p:cNvSpPr>
            <a:spLocks noGrp="1"/>
          </p:cNvSpPr>
          <p:nvPr>
            <p:ph type="sldNum" sz="quarter" idx="12"/>
          </p:nvPr>
        </p:nvSpPr>
        <p:spPr/>
        <p:txBody>
          <a:bodyPr/>
          <a:lstStyle/>
          <a:p>
            <a:fld id="{33E4D947-4B0C-4C4C-8502-CC34B2016046}" type="slidenum">
              <a:rPr lang="zh-TW" altLang="en-US" smtClean="0"/>
              <a:t>14</a:t>
            </a:fld>
            <a:endParaRPr lang="zh-TW" altLang="en-US"/>
          </a:p>
        </p:txBody>
      </p:sp>
    </p:spTree>
    <p:extLst>
      <p:ext uri="{BB962C8B-B14F-4D97-AF65-F5344CB8AC3E}">
        <p14:creationId xmlns:p14="http://schemas.microsoft.com/office/powerpoint/2010/main" val="3871432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9BF7B5E-5181-4527-8B60-20FD18EDA3DB}"/>
              </a:ext>
            </a:extLst>
          </p:cNvPr>
          <p:cNvSpPr>
            <a:spLocks noGrp="1"/>
          </p:cNvSpPr>
          <p:nvPr>
            <p:ph type="sldNum" sz="quarter" idx="12"/>
          </p:nvPr>
        </p:nvSpPr>
        <p:spPr/>
        <p:txBody>
          <a:bodyPr/>
          <a:lstStyle/>
          <a:p>
            <a:fld id="{33E4D947-4B0C-4C4C-8502-CC34B2016046}" type="slidenum">
              <a:rPr lang="zh-TW" altLang="en-US" smtClean="0"/>
              <a:t>15</a:t>
            </a:fld>
            <a:endParaRPr lang="zh-TW" altLang="en-US"/>
          </a:p>
        </p:txBody>
      </p:sp>
      <p:pic>
        <p:nvPicPr>
          <p:cNvPr id="6" name="圖片 5">
            <a:extLst>
              <a:ext uri="{FF2B5EF4-FFF2-40B4-BE49-F238E27FC236}">
                <a16:creationId xmlns:a16="http://schemas.microsoft.com/office/drawing/2014/main" id="{9BA281CF-7AA8-4374-A3F2-3539F10797FB}"/>
              </a:ext>
            </a:extLst>
          </p:cNvPr>
          <p:cNvPicPr>
            <a:picLocks noChangeAspect="1"/>
          </p:cNvPicPr>
          <p:nvPr/>
        </p:nvPicPr>
        <p:blipFill>
          <a:blip r:embed="rId2"/>
          <a:stretch>
            <a:fillRect/>
          </a:stretch>
        </p:blipFill>
        <p:spPr>
          <a:xfrm>
            <a:off x="250480" y="814855"/>
            <a:ext cx="8474420" cy="5349410"/>
          </a:xfrm>
          <a:prstGeom prst="rect">
            <a:avLst/>
          </a:prstGeom>
        </p:spPr>
      </p:pic>
    </p:spTree>
    <p:extLst>
      <p:ext uri="{BB962C8B-B14F-4D97-AF65-F5344CB8AC3E}">
        <p14:creationId xmlns:p14="http://schemas.microsoft.com/office/powerpoint/2010/main" val="3492703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FF1417-027D-4B69-A103-A98A4644BDB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E45EA96-85C0-452D-AB04-67A0D3AD4DD3}"/>
              </a:ext>
            </a:extLst>
          </p:cNvPr>
          <p:cNvSpPr>
            <a:spLocks noGrp="1"/>
          </p:cNvSpPr>
          <p:nvPr>
            <p:ph idx="1"/>
          </p:nvPr>
        </p:nvSpPr>
        <p:spPr/>
        <p:txBody>
          <a:bodyPr/>
          <a:lstStyle/>
          <a:p>
            <a:pPr>
              <a:buFont typeface="Wingdings" panose="05000000000000000000" pitchFamily="2" charset="2"/>
              <a:buChar char="Ø"/>
            </a:pPr>
            <a:r>
              <a:rPr lang="en-US" altLang="zh-TW" dirty="0"/>
              <a:t>7.1.4 </a:t>
            </a:r>
            <a:r>
              <a:rPr lang="en-US" altLang="zh-TW" dirty="0" err="1"/>
              <a:t>Softmax</a:t>
            </a:r>
            <a:r>
              <a:rPr lang="zh-TW" altLang="en-US" dirty="0"/>
              <a:t>函數</a:t>
            </a:r>
          </a:p>
          <a:p>
            <a:r>
              <a:rPr lang="zh-TW" altLang="en-US" dirty="0"/>
              <a:t>過去曾提到深度學習主要是應用在分類的機器學習方法，所以我們可以把資料傳入還沒訓練的模型，觀察它所輸出的機率向量。不意外地，大多數資料的預測機率很接近均勻分布，跟亂猜差不多。而我們的訓練目標，則是讓標籤對應的分類機率趨近於</a:t>
            </a:r>
            <a:r>
              <a:rPr lang="en-US" altLang="zh-TW" dirty="0"/>
              <a:t>1</a:t>
            </a:r>
            <a:r>
              <a:rPr lang="zh-TW" altLang="en-US" dirty="0"/>
              <a:t>，其他機率則盡可能趨近於</a:t>
            </a:r>
            <a:r>
              <a:rPr lang="en-US" altLang="zh-TW" dirty="0"/>
              <a:t>0</a:t>
            </a:r>
            <a:r>
              <a:rPr lang="zh-TW" altLang="en-US" dirty="0"/>
              <a:t>。也就是說，當輸入的是</a:t>
            </a:r>
            <a:r>
              <a:rPr lang="en-US" altLang="zh-TW" dirty="0"/>
              <a:t>9</a:t>
            </a:r>
            <a:r>
              <a:rPr lang="zh-TW" altLang="en-US" dirty="0"/>
              <a:t>的手寫數字圖片時，理想的輸出向量會是</a:t>
            </a:r>
            <a:r>
              <a:rPr lang="en-US" altLang="zh-TW" dirty="0"/>
              <a:t>(0,0,0,0,0,0,0,0,0,1)</a:t>
            </a:r>
            <a:r>
              <a:rPr lang="zh-TW" altLang="en-US" dirty="0"/>
              <a:t>。這種形式的向量，又被稱為一個標籤的</a:t>
            </a:r>
            <a:r>
              <a:rPr lang="en-US" altLang="zh-TW" dirty="0"/>
              <a:t>one-hot encoding</a:t>
            </a:r>
            <a:r>
              <a:rPr lang="zh-TW" altLang="en-US" dirty="0"/>
              <a:t>。</a:t>
            </a:r>
          </a:p>
        </p:txBody>
      </p:sp>
      <p:sp>
        <p:nvSpPr>
          <p:cNvPr id="4" name="投影片編號版面配置區 3">
            <a:extLst>
              <a:ext uri="{FF2B5EF4-FFF2-40B4-BE49-F238E27FC236}">
                <a16:creationId xmlns:a16="http://schemas.microsoft.com/office/drawing/2014/main" id="{D062B7F0-77D7-43EF-9160-D9AE579CDF09}"/>
              </a:ext>
            </a:extLst>
          </p:cNvPr>
          <p:cNvSpPr>
            <a:spLocks noGrp="1"/>
          </p:cNvSpPr>
          <p:nvPr>
            <p:ph type="sldNum" sz="quarter" idx="12"/>
          </p:nvPr>
        </p:nvSpPr>
        <p:spPr/>
        <p:txBody>
          <a:bodyPr/>
          <a:lstStyle/>
          <a:p>
            <a:fld id="{33E4D947-4B0C-4C4C-8502-CC34B2016046}" type="slidenum">
              <a:rPr lang="zh-TW" altLang="en-US" smtClean="0"/>
              <a:t>16</a:t>
            </a:fld>
            <a:endParaRPr lang="zh-TW" altLang="en-US"/>
          </a:p>
        </p:txBody>
      </p:sp>
    </p:spTree>
    <p:extLst>
      <p:ext uri="{BB962C8B-B14F-4D97-AF65-F5344CB8AC3E}">
        <p14:creationId xmlns:p14="http://schemas.microsoft.com/office/powerpoint/2010/main" val="3186335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4CCD93D-82C2-4F71-AF3A-DB87FEFCED56}"/>
              </a:ext>
            </a:extLst>
          </p:cNvPr>
          <p:cNvSpPr>
            <a:spLocks noGrp="1"/>
          </p:cNvSpPr>
          <p:nvPr>
            <p:ph idx="1"/>
          </p:nvPr>
        </p:nvSpPr>
        <p:spPr>
          <a:xfrm>
            <a:off x="640080" y="3429000"/>
            <a:ext cx="7886700" cy="2565083"/>
          </a:xfrm>
        </p:spPr>
        <p:txBody>
          <a:bodyPr/>
          <a:lstStyle/>
          <a:p>
            <a:r>
              <a:rPr lang="zh-TW" altLang="en-US" dirty="0"/>
              <a:t>處理負數</a:t>
            </a:r>
          </a:p>
          <a:p>
            <a:r>
              <a:rPr lang="zh-TW" altLang="en-US" dirty="0"/>
              <a:t>強化極端值</a:t>
            </a:r>
          </a:p>
        </p:txBody>
      </p:sp>
      <p:sp>
        <p:nvSpPr>
          <p:cNvPr id="4" name="投影片編號版面配置區 3">
            <a:extLst>
              <a:ext uri="{FF2B5EF4-FFF2-40B4-BE49-F238E27FC236}">
                <a16:creationId xmlns:a16="http://schemas.microsoft.com/office/drawing/2014/main" id="{92D37E98-53E4-440F-BE16-90B0BB1EBE5C}"/>
              </a:ext>
            </a:extLst>
          </p:cNvPr>
          <p:cNvSpPr>
            <a:spLocks noGrp="1"/>
          </p:cNvSpPr>
          <p:nvPr>
            <p:ph type="sldNum" sz="quarter" idx="12"/>
          </p:nvPr>
        </p:nvSpPr>
        <p:spPr/>
        <p:txBody>
          <a:bodyPr/>
          <a:lstStyle/>
          <a:p>
            <a:fld id="{33E4D947-4B0C-4C4C-8502-CC34B2016046}" type="slidenum">
              <a:rPr lang="zh-TW" altLang="en-US" smtClean="0"/>
              <a:t>17</a:t>
            </a:fld>
            <a:endParaRPr lang="zh-TW" altLang="en-US"/>
          </a:p>
        </p:txBody>
      </p:sp>
      <p:pic>
        <p:nvPicPr>
          <p:cNvPr id="6" name="圖片 5">
            <a:extLst>
              <a:ext uri="{FF2B5EF4-FFF2-40B4-BE49-F238E27FC236}">
                <a16:creationId xmlns:a16="http://schemas.microsoft.com/office/drawing/2014/main" id="{E647B77D-957A-4E18-B040-68C18F8514E8}"/>
              </a:ext>
            </a:extLst>
          </p:cNvPr>
          <p:cNvPicPr>
            <a:picLocks noChangeAspect="1"/>
          </p:cNvPicPr>
          <p:nvPr/>
        </p:nvPicPr>
        <p:blipFill>
          <a:blip r:embed="rId2"/>
          <a:stretch>
            <a:fillRect/>
          </a:stretch>
        </p:blipFill>
        <p:spPr>
          <a:xfrm>
            <a:off x="176934" y="2189318"/>
            <a:ext cx="8790132" cy="1167611"/>
          </a:xfrm>
          <a:prstGeom prst="rect">
            <a:avLst/>
          </a:prstGeom>
        </p:spPr>
      </p:pic>
    </p:spTree>
    <p:extLst>
      <p:ext uri="{BB962C8B-B14F-4D97-AF65-F5344CB8AC3E}">
        <p14:creationId xmlns:p14="http://schemas.microsoft.com/office/powerpoint/2010/main" val="927557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F71237-BD84-4778-B043-2FC93D9F782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35454B6-9EE3-4D84-88A6-92291A880038}"/>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lang="en-US" altLang="zh-TW" dirty="0"/>
              <a:t>7.1.5 </a:t>
            </a:r>
            <a:r>
              <a:rPr lang="zh-TW" altLang="en-US" dirty="0"/>
              <a:t>模型訓練</a:t>
            </a:r>
            <a:endParaRPr lang="en-US" altLang="zh-TW" dirty="0"/>
          </a:p>
          <a:p>
            <a:r>
              <a:rPr lang="zh-TW" altLang="en-US" dirty="0"/>
              <a:t>訓練一個神經網路時，我們會將整個訓練資料集分割成數個批次，逐一輸入神經網路進行訓練。為什麼不一筆一筆輸入呢？單一的訓練資料變異可能很大，不斷變動的損失會讓參數無法穩定收斂，所以用類似採樣的方式一次傳入一批訓練資料，有助於全面地訓練一個模型。</a:t>
            </a:r>
          </a:p>
          <a:p>
            <a:r>
              <a:rPr lang="zh-TW" altLang="en-US" dirty="0"/>
              <a:t>將訓練資料訓練完成一次，稱為一個週期。通常我們會訓練多個週期，因為訓練次數不足時參數可能尚未完全收斂，模型可能還沒精確擷取特徵。多次的資料前饋與梯度的反向傳播後，神經網路的各個參數會逐漸收斂，此時的神經網路就訓練完成了。</a:t>
            </a:r>
          </a:p>
        </p:txBody>
      </p:sp>
      <p:sp>
        <p:nvSpPr>
          <p:cNvPr id="4" name="投影片編號版面配置區 3">
            <a:extLst>
              <a:ext uri="{FF2B5EF4-FFF2-40B4-BE49-F238E27FC236}">
                <a16:creationId xmlns:a16="http://schemas.microsoft.com/office/drawing/2014/main" id="{8DAA0C39-97C3-40E1-95F2-2F8C74E5440D}"/>
              </a:ext>
            </a:extLst>
          </p:cNvPr>
          <p:cNvSpPr>
            <a:spLocks noGrp="1"/>
          </p:cNvSpPr>
          <p:nvPr>
            <p:ph type="sldNum" sz="quarter" idx="12"/>
          </p:nvPr>
        </p:nvSpPr>
        <p:spPr/>
        <p:txBody>
          <a:bodyPr/>
          <a:lstStyle/>
          <a:p>
            <a:fld id="{33E4D947-4B0C-4C4C-8502-CC34B2016046}" type="slidenum">
              <a:rPr lang="zh-TW" altLang="en-US" smtClean="0"/>
              <a:t>18</a:t>
            </a:fld>
            <a:endParaRPr lang="zh-TW" altLang="en-US"/>
          </a:p>
        </p:txBody>
      </p:sp>
    </p:spTree>
    <p:extLst>
      <p:ext uri="{BB962C8B-B14F-4D97-AF65-F5344CB8AC3E}">
        <p14:creationId xmlns:p14="http://schemas.microsoft.com/office/powerpoint/2010/main" val="155706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D10AD8-8DAC-4544-B6A1-0B66F077FE7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348CA30-98CF-4F27-BAE3-1BAA1DF5A9F6}"/>
              </a:ext>
            </a:extLst>
          </p:cNvPr>
          <p:cNvSpPr>
            <a:spLocks noGrp="1"/>
          </p:cNvSpPr>
          <p:nvPr>
            <p:ph idx="1"/>
          </p:nvPr>
        </p:nvSpPr>
        <p:spPr>
          <a:xfrm>
            <a:off x="457200" y="1825625"/>
            <a:ext cx="8321040" cy="4351338"/>
          </a:xfrm>
        </p:spPr>
        <p:txBody>
          <a:bodyPr>
            <a:normAutofit lnSpcReduction="10000"/>
          </a:bodyPr>
          <a:lstStyle/>
          <a:p>
            <a:r>
              <a:rPr lang="zh-TW" altLang="en-US" dirty="0"/>
              <a:t>可能會發現在</a:t>
            </a:r>
            <a:r>
              <a:rPr lang="en-US" altLang="zh-TW" dirty="0"/>
              <a:t>train</a:t>
            </a:r>
            <a:r>
              <a:rPr lang="zh-TW" altLang="en-US" dirty="0"/>
              <a:t>函式中，我們沒有像在</a:t>
            </a:r>
            <a:r>
              <a:rPr lang="en-US" altLang="zh-TW" dirty="0"/>
              <a:t>visualize</a:t>
            </a:r>
            <a:r>
              <a:rPr lang="zh-TW" altLang="en-US" dirty="0"/>
              <a:t>函式中用</a:t>
            </a:r>
            <a:r>
              <a:rPr lang="en-US" altLang="zh-TW" dirty="0" err="1"/>
              <a:t>torch.softmax</a:t>
            </a:r>
            <a:r>
              <a:rPr lang="zh-TW" altLang="en-US" dirty="0"/>
              <a:t>。那是因為</a:t>
            </a:r>
            <a:r>
              <a:rPr lang="en-US" altLang="zh-TW" dirty="0" err="1"/>
              <a:t>nn.CrossEntropyLoss</a:t>
            </a:r>
            <a:r>
              <a:rPr lang="en-US" altLang="zh-TW" dirty="0"/>
              <a:t>()</a:t>
            </a:r>
            <a:r>
              <a:rPr lang="zh-TW" altLang="en-US" dirty="0"/>
              <a:t>只要傳入標籤和模型輸出，它就會對輸出張量用</a:t>
            </a:r>
            <a:r>
              <a:rPr lang="en-US" altLang="zh-TW" dirty="0" err="1"/>
              <a:t>torch.softmax</a:t>
            </a:r>
            <a:r>
              <a:rPr lang="zh-TW" altLang="en-US" dirty="0"/>
              <a:t>算出分類機率，並把標籤轉成</a:t>
            </a:r>
            <a:r>
              <a:rPr lang="en-US" altLang="zh-TW" dirty="0"/>
              <a:t>one-hot encoding</a:t>
            </a:r>
            <a:r>
              <a:rPr lang="zh-TW" altLang="en-US" dirty="0"/>
              <a:t>後計算交叉熵損失。因此，把沒有轉換形式的資料傳入</a:t>
            </a:r>
            <a:r>
              <a:rPr lang="en-US" altLang="zh-TW" dirty="0"/>
              <a:t>criterion</a:t>
            </a:r>
            <a:r>
              <a:rPr lang="zh-TW" altLang="en-US" dirty="0"/>
              <a:t>就能得到損失，相當方便。</a:t>
            </a:r>
          </a:p>
          <a:p>
            <a:r>
              <a:rPr lang="zh-TW" altLang="en-US" dirty="0"/>
              <a:t>測試模型的時候，我們不需要計算模型梯度，所以可以在</a:t>
            </a:r>
            <a:r>
              <a:rPr lang="en-US" altLang="zh-TW" dirty="0" err="1"/>
              <a:t>torch.no_grad</a:t>
            </a:r>
            <a:r>
              <a:rPr lang="en-US" altLang="zh-TW" dirty="0"/>
              <a:t>()</a:t>
            </a:r>
            <a:r>
              <a:rPr lang="zh-TW" altLang="en-US" dirty="0"/>
              <a:t>模式下進行，加速運算。</a:t>
            </a:r>
            <a:endParaRPr lang="en-US" altLang="zh-TW" dirty="0"/>
          </a:p>
          <a:p>
            <a:r>
              <a:rPr lang="zh-TW" altLang="en-US" dirty="0"/>
              <a:t>我們希望將訓練過程視覺化成折線圖，因此我們會用陣列紀錄一些過程中的數值。</a:t>
            </a:r>
          </a:p>
        </p:txBody>
      </p:sp>
      <p:sp>
        <p:nvSpPr>
          <p:cNvPr id="4" name="投影片編號版面配置區 3">
            <a:extLst>
              <a:ext uri="{FF2B5EF4-FFF2-40B4-BE49-F238E27FC236}">
                <a16:creationId xmlns:a16="http://schemas.microsoft.com/office/drawing/2014/main" id="{4972C25E-B9CC-4075-A280-985406E9662C}"/>
              </a:ext>
            </a:extLst>
          </p:cNvPr>
          <p:cNvSpPr>
            <a:spLocks noGrp="1"/>
          </p:cNvSpPr>
          <p:nvPr>
            <p:ph type="sldNum" sz="quarter" idx="12"/>
          </p:nvPr>
        </p:nvSpPr>
        <p:spPr/>
        <p:txBody>
          <a:bodyPr/>
          <a:lstStyle/>
          <a:p>
            <a:fld id="{33E4D947-4B0C-4C4C-8502-CC34B2016046}" type="slidenum">
              <a:rPr lang="zh-TW" altLang="en-US" smtClean="0"/>
              <a:t>19</a:t>
            </a:fld>
            <a:endParaRPr lang="zh-TW" altLang="en-US"/>
          </a:p>
        </p:txBody>
      </p:sp>
    </p:spTree>
    <p:extLst>
      <p:ext uri="{BB962C8B-B14F-4D97-AF65-F5344CB8AC3E}">
        <p14:creationId xmlns:p14="http://schemas.microsoft.com/office/powerpoint/2010/main" val="275728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03F2C-6B26-4E3F-85EB-028DFB774F5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015FBC9-2E3E-48C9-9C1B-26F049D021FA}"/>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2CC20A4-0768-40E0-913D-C934A827AD0B}"/>
              </a:ext>
            </a:extLst>
          </p:cNvPr>
          <p:cNvSpPr>
            <a:spLocks noGrp="1"/>
          </p:cNvSpPr>
          <p:nvPr>
            <p:ph type="sldNum" sz="quarter" idx="12"/>
          </p:nvPr>
        </p:nvSpPr>
        <p:spPr/>
        <p:txBody>
          <a:bodyPr/>
          <a:lstStyle/>
          <a:p>
            <a:fld id="{33E4D947-4B0C-4C4C-8502-CC34B2016046}" type="slidenum">
              <a:rPr lang="zh-TW" altLang="en-US" smtClean="0"/>
              <a:t>20</a:t>
            </a:fld>
            <a:endParaRPr lang="zh-TW" altLang="en-US"/>
          </a:p>
        </p:txBody>
      </p:sp>
      <p:pic>
        <p:nvPicPr>
          <p:cNvPr id="6" name="圖片 5">
            <a:extLst>
              <a:ext uri="{FF2B5EF4-FFF2-40B4-BE49-F238E27FC236}">
                <a16:creationId xmlns:a16="http://schemas.microsoft.com/office/drawing/2014/main" id="{D1E3A538-F039-4EC3-B386-2B1E34A44F37}"/>
              </a:ext>
            </a:extLst>
          </p:cNvPr>
          <p:cNvPicPr>
            <a:picLocks noChangeAspect="1"/>
          </p:cNvPicPr>
          <p:nvPr/>
        </p:nvPicPr>
        <p:blipFill>
          <a:blip r:embed="rId2"/>
          <a:stretch>
            <a:fillRect/>
          </a:stretch>
        </p:blipFill>
        <p:spPr>
          <a:xfrm>
            <a:off x="440033" y="608631"/>
            <a:ext cx="8009462" cy="6182060"/>
          </a:xfrm>
          <a:prstGeom prst="rect">
            <a:avLst/>
          </a:prstGeom>
        </p:spPr>
      </p:pic>
    </p:spTree>
    <p:extLst>
      <p:ext uri="{BB962C8B-B14F-4D97-AF65-F5344CB8AC3E}">
        <p14:creationId xmlns:p14="http://schemas.microsoft.com/office/powerpoint/2010/main" val="4210484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39F722-6041-41B7-8E89-BA13DD4F464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BE232EF-E230-4EFD-A3A1-96C641061B3F}"/>
              </a:ext>
            </a:extLst>
          </p:cNvPr>
          <p:cNvSpPr>
            <a:spLocks noGrp="1"/>
          </p:cNvSpPr>
          <p:nvPr>
            <p:ph idx="1"/>
          </p:nvPr>
        </p:nvSpPr>
        <p:spPr/>
        <p:txBody>
          <a:bodyPr/>
          <a:lstStyle/>
          <a:p>
            <a:pPr>
              <a:buFont typeface="Wingdings" panose="05000000000000000000" pitchFamily="2" charset="2"/>
              <a:buChar char="Ø"/>
            </a:pPr>
            <a:r>
              <a:rPr lang="en-US" altLang="zh-TW" dirty="0"/>
              <a:t>7.1.6 </a:t>
            </a:r>
            <a:r>
              <a:rPr lang="zh-TW" altLang="en-US" dirty="0"/>
              <a:t>訓練過程與結果呈現 </a:t>
            </a:r>
            <a:endParaRPr lang="en-US" altLang="zh-TW" dirty="0"/>
          </a:p>
          <a:p>
            <a:r>
              <a:rPr lang="zh-TW" altLang="en-US" dirty="0">
                <a:highlight>
                  <a:srgbClr val="C0C0C0"/>
                </a:highlight>
              </a:rPr>
              <a:t>訓練過程折線圖</a:t>
            </a:r>
          </a:p>
          <a:p>
            <a:r>
              <a:rPr lang="zh-TW" altLang="en-US" dirty="0"/>
              <a:t>我們要把訓練集和測試集的同性質資料畫在同一個圖表上。為了讓圖表易於辨識，我們要用</a:t>
            </a:r>
            <a:r>
              <a:rPr lang="en-US" altLang="zh-TW" dirty="0" err="1"/>
              <a:t>xlabel</a:t>
            </a:r>
            <a:r>
              <a:rPr lang="en-US" altLang="zh-TW" dirty="0"/>
              <a:t>()</a:t>
            </a:r>
            <a:r>
              <a:rPr lang="zh-TW" altLang="en-US" dirty="0"/>
              <a:t>和</a:t>
            </a:r>
            <a:r>
              <a:rPr lang="en-US" altLang="zh-TW" dirty="0" err="1"/>
              <a:t>ylabel</a:t>
            </a:r>
            <a:r>
              <a:rPr lang="en-US" altLang="zh-TW" dirty="0"/>
              <a:t>()</a:t>
            </a:r>
            <a:r>
              <a:rPr lang="zh-TW" altLang="en-US" dirty="0"/>
              <a:t>子函式標示兩軸意義，在</a:t>
            </a:r>
            <a:r>
              <a:rPr lang="en-US" altLang="zh-TW" dirty="0"/>
              <a:t>plot()</a:t>
            </a:r>
            <a:r>
              <a:rPr lang="zh-TW" altLang="en-US" dirty="0"/>
              <a:t>子函式中以</a:t>
            </a:r>
            <a:r>
              <a:rPr lang="en-US" altLang="zh-TW" dirty="0"/>
              <a:t>label</a:t>
            </a:r>
            <a:r>
              <a:rPr lang="zh-TW" altLang="en-US" dirty="0"/>
              <a:t>參數標示資料意義，最後用</a:t>
            </a:r>
            <a:r>
              <a:rPr lang="en-US" altLang="zh-TW" dirty="0"/>
              <a:t>legend()</a:t>
            </a:r>
            <a:r>
              <a:rPr lang="zh-TW" altLang="en-US" dirty="0"/>
              <a:t>子函式畫出圖表右上角的圖例。</a:t>
            </a:r>
          </a:p>
        </p:txBody>
      </p:sp>
      <p:sp>
        <p:nvSpPr>
          <p:cNvPr id="4" name="投影片編號版面配置區 3">
            <a:extLst>
              <a:ext uri="{FF2B5EF4-FFF2-40B4-BE49-F238E27FC236}">
                <a16:creationId xmlns:a16="http://schemas.microsoft.com/office/drawing/2014/main" id="{75CD534C-D00E-4C58-A4F6-170C8618E959}"/>
              </a:ext>
            </a:extLst>
          </p:cNvPr>
          <p:cNvSpPr>
            <a:spLocks noGrp="1"/>
          </p:cNvSpPr>
          <p:nvPr>
            <p:ph type="sldNum" sz="quarter" idx="12"/>
          </p:nvPr>
        </p:nvSpPr>
        <p:spPr/>
        <p:txBody>
          <a:bodyPr/>
          <a:lstStyle/>
          <a:p>
            <a:fld id="{33E4D947-4B0C-4C4C-8502-CC34B2016046}" type="slidenum">
              <a:rPr lang="zh-TW" altLang="en-US" smtClean="0"/>
              <a:t>21</a:t>
            </a:fld>
            <a:endParaRPr lang="zh-TW" altLang="en-US"/>
          </a:p>
        </p:txBody>
      </p:sp>
    </p:spTree>
    <p:extLst>
      <p:ext uri="{BB962C8B-B14F-4D97-AF65-F5344CB8AC3E}">
        <p14:creationId xmlns:p14="http://schemas.microsoft.com/office/powerpoint/2010/main" val="3752718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560301F-B391-4238-8C8B-3DC434A69268}"/>
              </a:ext>
            </a:extLst>
          </p:cNvPr>
          <p:cNvSpPr>
            <a:spLocks noGrp="1"/>
          </p:cNvSpPr>
          <p:nvPr>
            <p:ph type="sldNum" sz="quarter" idx="12"/>
          </p:nvPr>
        </p:nvSpPr>
        <p:spPr/>
        <p:txBody>
          <a:bodyPr/>
          <a:lstStyle/>
          <a:p>
            <a:fld id="{33E4D947-4B0C-4C4C-8502-CC34B2016046}" type="slidenum">
              <a:rPr lang="zh-TW" altLang="en-US" smtClean="0"/>
              <a:t>22</a:t>
            </a:fld>
            <a:endParaRPr lang="zh-TW" altLang="en-US"/>
          </a:p>
        </p:txBody>
      </p:sp>
      <p:pic>
        <p:nvPicPr>
          <p:cNvPr id="6" name="圖片 5">
            <a:extLst>
              <a:ext uri="{FF2B5EF4-FFF2-40B4-BE49-F238E27FC236}">
                <a16:creationId xmlns:a16="http://schemas.microsoft.com/office/drawing/2014/main" id="{8D81542C-0BE4-429B-BAA5-6DE75EBE342F}"/>
              </a:ext>
            </a:extLst>
          </p:cNvPr>
          <p:cNvPicPr>
            <a:picLocks noChangeAspect="1"/>
          </p:cNvPicPr>
          <p:nvPr/>
        </p:nvPicPr>
        <p:blipFill>
          <a:blip r:embed="rId2"/>
          <a:stretch>
            <a:fillRect/>
          </a:stretch>
        </p:blipFill>
        <p:spPr>
          <a:xfrm>
            <a:off x="1376348" y="81898"/>
            <a:ext cx="5504511" cy="6697393"/>
          </a:xfrm>
          <a:prstGeom prst="rect">
            <a:avLst/>
          </a:prstGeom>
        </p:spPr>
      </p:pic>
    </p:spTree>
    <p:extLst>
      <p:ext uri="{BB962C8B-B14F-4D97-AF65-F5344CB8AC3E}">
        <p14:creationId xmlns:p14="http://schemas.microsoft.com/office/powerpoint/2010/main" val="2828091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BEABD-3866-4012-BD3C-79474BAA163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61397B7-8452-494B-AB58-F0C9FF6D2F62}"/>
              </a:ext>
            </a:extLst>
          </p:cNvPr>
          <p:cNvSpPr>
            <a:spLocks noGrp="1"/>
          </p:cNvSpPr>
          <p:nvPr>
            <p:ph idx="1"/>
          </p:nvPr>
        </p:nvSpPr>
        <p:spPr/>
        <p:txBody>
          <a:bodyPr/>
          <a:lstStyle/>
          <a:p>
            <a:r>
              <a:rPr lang="zh-TW" altLang="en-US" dirty="0">
                <a:highlight>
                  <a:srgbClr val="C0C0C0"/>
                </a:highlight>
              </a:rPr>
              <a:t>訓練結果視覺化</a:t>
            </a:r>
          </a:p>
          <a:p>
            <a:r>
              <a:rPr lang="zh-TW" altLang="en-US" dirty="0"/>
              <a:t>我們可以用視覺化函式觀察訓練成果，會發現預測機率幾乎已收斂到正確的類別上。</a:t>
            </a:r>
          </a:p>
          <a:p>
            <a:pPr marL="0" indent="0" algn="ctr">
              <a:buNone/>
            </a:pPr>
            <a:r>
              <a:rPr lang="en-US" altLang="zh-TW" dirty="0"/>
              <a:t>visualize(NN, </a:t>
            </a:r>
            <a:r>
              <a:rPr lang="en-US" altLang="zh-TW" dirty="0" err="1"/>
              <a:t>test_loader</a:t>
            </a:r>
            <a:r>
              <a:rPr lang="en-US" altLang="zh-TW" dirty="0"/>
              <a:t>) # </a:t>
            </a:r>
            <a:r>
              <a:rPr lang="zh-TW" altLang="en-US" dirty="0"/>
              <a:t>結果視覺化</a:t>
            </a:r>
          </a:p>
        </p:txBody>
      </p:sp>
      <p:sp>
        <p:nvSpPr>
          <p:cNvPr id="4" name="投影片編號版面配置區 3">
            <a:extLst>
              <a:ext uri="{FF2B5EF4-FFF2-40B4-BE49-F238E27FC236}">
                <a16:creationId xmlns:a16="http://schemas.microsoft.com/office/drawing/2014/main" id="{38A853FC-1946-43E8-9EA8-FBCE6349E1AA}"/>
              </a:ext>
            </a:extLst>
          </p:cNvPr>
          <p:cNvSpPr>
            <a:spLocks noGrp="1"/>
          </p:cNvSpPr>
          <p:nvPr>
            <p:ph type="sldNum" sz="quarter" idx="12"/>
          </p:nvPr>
        </p:nvSpPr>
        <p:spPr/>
        <p:txBody>
          <a:bodyPr/>
          <a:lstStyle/>
          <a:p>
            <a:fld id="{33E4D947-4B0C-4C4C-8502-CC34B2016046}" type="slidenum">
              <a:rPr lang="zh-TW" altLang="en-US" smtClean="0"/>
              <a:t>23</a:t>
            </a:fld>
            <a:endParaRPr lang="zh-TW" altLang="en-US"/>
          </a:p>
        </p:txBody>
      </p:sp>
    </p:spTree>
    <p:extLst>
      <p:ext uri="{BB962C8B-B14F-4D97-AF65-F5344CB8AC3E}">
        <p14:creationId xmlns:p14="http://schemas.microsoft.com/office/powerpoint/2010/main" val="3921418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3A79BD-5529-490C-8C95-4DA3A3A3BA5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C9B5510-D9E7-4EBF-84D1-56F95390AA5D}"/>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5CD7ECAF-6FC6-4355-9A2E-1DBC3C089DB8}"/>
              </a:ext>
            </a:extLst>
          </p:cNvPr>
          <p:cNvSpPr>
            <a:spLocks noGrp="1"/>
          </p:cNvSpPr>
          <p:nvPr>
            <p:ph type="sldNum" sz="quarter" idx="12"/>
          </p:nvPr>
        </p:nvSpPr>
        <p:spPr/>
        <p:txBody>
          <a:bodyPr/>
          <a:lstStyle/>
          <a:p>
            <a:fld id="{33E4D947-4B0C-4C4C-8502-CC34B2016046}" type="slidenum">
              <a:rPr lang="zh-TW" altLang="en-US" smtClean="0"/>
              <a:t>24</a:t>
            </a:fld>
            <a:endParaRPr lang="zh-TW" altLang="en-US"/>
          </a:p>
        </p:txBody>
      </p:sp>
      <p:pic>
        <p:nvPicPr>
          <p:cNvPr id="6" name="圖片 5">
            <a:extLst>
              <a:ext uri="{FF2B5EF4-FFF2-40B4-BE49-F238E27FC236}">
                <a16:creationId xmlns:a16="http://schemas.microsoft.com/office/drawing/2014/main" id="{3CC7D46E-CD3A-46E7-83D2-CF95A60A10B2}"/>
              </a:ext>
            </a:extLst>
          </p:cNvPr>
          <p:cNvPicPr>
            <a:picLocks noChangeAspect="1"/>
          </p:cNvPicPr>
          <p:nvPr/>
        </p:nvPicPr>
        <p:blipFill>
          <a:blip r:embed="rId2"/>
          <a:stretch>
            <a:fillRect/>
          </a:stretch>
        </p:blipFill>
        <p:spPr>
          <a:xfrm>
            <a:off x="165245" y="681037"/>
            <a:ext cx="8813510" cy="5602473"/>
          </a:xfrm>
          <a:prstGeom prst="rect">
            <a:avLst/>
          </a:prstGeom>
        </p:spPr>
      </p:pic>
    </p:spTree>
    <p:extLst>
      <p:ext uri="{BB962C8B-B14F-4D97-AF65-F5344CB8AC3E}">
        <p14:creationId xmlns:p14="http://schemas.microsoft.com/office/powerpoint/2010/main" val="1542883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0EB546-2613-4ED7-81B0-B60A3A825E82}"/>
              </a:ext>
            </a:extLst>
          </p:cNvPr>
          <p:cNvSpPr>
            <a:spLocks noGrp="1"/>
          </p:cNvSpPr>
          <p:nvPr>
            <p:ph type="title"/>
          </p:nvPr>
        </p:nvSpPr>
        <p:spPr>
          <a:xfrm>
            <a:off x="83820" y="616586"/>
            <a:ext cx="8976360" cy="1325563"/>
          </a:xfrm>
        </p:spPr>
        <p:txBody>
          <a:bodyPr>
            <a:normAutofit/>
          </a:bodyPr>
          <a:lstStyle/>
          <a:p>
            <a:r>
              <a:rPr lang="en-US" altLang="zh-TW" sz="4300" dirty="0"/>
              <a:t>7.2</a:t>
            </a:r>
            <a:r>
              <a:rPr lang="zh-TW" altLang="en-US" sz="4300" dirty="0"/>
              <a:t>運用</a:t>
            </a:r>
            <a:r>
              <a:rPr lang="en-US" altLang="zh-TW" sz="4300" dirty="0"/>
              <a:t>Dropout</a:t>
            </a:r>
            <a:r>
              <a:rPr lang="zh-TW" altLang="en-US" sz="4300" dirty="0"/>
              <a:t>函數減緩過擬合問題</a:t>
            </a:r>
          </a:p>
        </p:txBody>
      </p:sp>
      <p:sp>
        <p:nvSpPr>
          <p:cNvPr id="3" name="內容版面配置區 2">
            <a:extLst>
              <a:ext uri="{FF2B5EF4-FFF2-40B4-BE49-F238E27FC236}">
                <a16:creationId xmlns:a16="http://schemas.microsoft.com/office/drawing/2014/main" id="{092A0DAC-BD5A-4B74-A28F-CBBFE5F63BFF}"/>
              </a:ext>
            </a:extLst>
          </p:cNvPr>
          <p:cNvSpPr>
            <a:spLocks noGrp="1"/>
          </p:cNvSpPr>
          <p:nvPr>
            <p:ph idx="1"/>
          </p:nvPr>
        </p:nvSpPr>
        <p:spPr>
          <a:xfrm>
            <a:off x="83820" y="1825625"/>
            <a:ext cx="8907780" cy="4351338"/>
          </a:xfrm>
        </p:spPr>
        <p:txBody>
          <a:bodyPr/>
          <a:lstStyle/>
          <a:p>
            <a:pPr algn="r"/>
            <a:r>
              <a:rPr lang="en-US" altLang="zh-TW" dirty="0"/>
              <a:t>■ </a:t>
            </a:r>
            <a:r>
              <a:rPr lang="en-US" altLang="zh-TW" dirty="0" err="1"/>
              <a:t>Jupyter</a:t>
            </a:r>
            <a:r>
              <a:rPr lang="en-US" altLang="zh-TW" dirty="0"/>
              <a:t> Notebook</a:t>
            </a:r>
            <a:r>
              <a:rPr lang="zh-TW" altLang="en-US" dirty="0"/>
              <a:t>：</a:t>
            </a:r>
            <a:r>
              <a:rPr lang="en-US" altLang="zh-TW" dirty="0"/>
              <a:t>ch7/</a:t>
            </a:r>
            <a:r>
              <a:rPr lang="en-US" altLang="zh-TW" dirty="0" err="1"/>
              <a:t>NN_MNIST_Dropout.ipynb</a:t>
            </a:r>
            <a:r>
              <a:rPr lang="en-US" altLang="zh-TW" dirty="0"/>
              <a:t> </a:t>
            </a:r>
          </a:p>
          <a:p>
            <a:pPr algn="r"/>
            <a:r>
              <a:rPr lang="en-US" altLang="zh-TW" dirty="0"/>
              <a:t>■ Python</a:t>
            </a:r>
            <a:r>
              <a:rPr lang="zh-TW" altLang="en-US" dirty="0"/>
              <a:t>完整程式：</a:t>
            </a:r>
            <a:r>
              <a:rPr lang="en-US" altLang="zh-TW" dirty="0"/>
              <a:t>ch7/NN_MNIST_Dropout.py</a:t>
            </a:r>
          </a:p>
          <a:p>
            <a:r>
              <a:rPr lang="zh-TW" altLang="en-US" dirty="0"/>
              <a:t>我們完成了神經網路的訓練，但也從最後的折線圖中發現一個問題。當訓練集的損失逐漸下降時，測試集在訓練中後期的損失並沒有成功地收斂，甚至損失還會止跌回升。這個狀況可能是神經網路擷取到不必要的特徵導致特徵失焦，我們稱之為過擬合（</a:t>
            </a:r>
            <a:r>
              <a:rPr lang="en-US" altLang="zh-TW" dirty="0"/>
              <a:t>overfitting</a:t>
            </a:r>
            <a:r>
              <a:rPr lang="zh-TW" altLang="en-US" dirty="0"/>
              <a:t>）。</a:t>
            </a:r>
          </a:p>
        </p:txBody>
      </p:sp>
      <p:sp>
        <p:nvSpPr>
          <p:cNvPr id="4" name="投影片編號版面配置區 3">
            <a:extLst>
              <a:ext uri="{FF2B5EF4-FFF2-40B4-BE49-F238E27FC236}">
                <a16:creationId xmlns:a16="http://schemas.microsoft.com/office/drawing/2014/main" id="{7DE92627-9842-4EF1-83D5-47BC8E33AC39}"/>
              </a:ext>
            </a:extLst>
          </p:cNvPr>
          <p:cNvSpPr>
            <a:spLocks noGrp="1"/>
          </p:cNvSpPr>
          <p:nvPr>
            <p:ph type="sldNum" sz="quarter" idx="12"/>
          </p:nvPr>
        </p:nvSpPr>
        <p:spPr/>
        <p:txBody>
          <a:bodyPr/>
          <a:lstStyle/>
          <a:p>
            <a:fld id="{33E4D947-4B0C-4C4C-8502-CC34B2016046}" type="slidenum">
              <a:rPr lang="zh-TW" altLang="en-US" smtClean="0"/>
              <a:t>25</a:t>
            </a:fld>
            <a:endParaRPr lang="zh-TW" altLang="en-US"/>
          </a:p>
        </p:txBody>
      </p:sp>
    </p:spTree>
    <p:extLst>
      <p:ext uri="{BB962C8B-B14F-4D97-AF65-F5344CB8AC3E}">
        <p14:creationId xmlns:p14="http://schemas.microsoft.com/office/powerpoint/2010/main" val="2557262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1762E2-8F84-4D38-A578-CB5FAA0A011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1E31EA3-E16E-4BB3-8943-C75A19AFFCC9}"/>
              </a:ext>
            </a:extLst>
          </p:cNvPr>
          <p:cNvSpPr>
            <a:spLocks noGrp="1"/>
          </p:cNvSpPr>
          <p:nvPr>
            <p:ph idx="1"/>
          </p:nvPr>
        </p:nvSpPr>
        <p:spPr>
          <a:xfrm>
            <a:off x="403860" y="1825625"/>
            <a:ext cx="8111490" cy="4351338"/>
          </a:xfrm>
        </p:spPr>
        <p:txBody>
          <a:bodyPr/>
          <a:lstStyle/>
          <a:p>
            <a:r>
              <a:rPr lang="zh-TW" altLang="en-US" dirty="0"/>
              <a:t>參數以輸入訓練集時的損失與梯度作為調整因素，但當訓練次數過多時，參數的調整可能會受一些訓練集中不必要的特徵影響。舉個例子，如果訓練集中的數字</a:t>
            </a:r>
            <a:r>
              <a:rPr lang="en-US" altLang="zh-TW" dirty="0"/>
              <a:t>1</a:t>
            </a:r>
            <a:r>
              <a:rPr lang="zh-TW" altLang="en-US" dirty="0"/>
              <a:t>多數都像下方左圖有下面的一橫，測試集中僅有一豎的數字</a:t>
            </a:r>
            <a:r>
              <a:rPr lang="en-US" altLang="zh-TW" dirty="0"/>
              <a:t>1</a:t>
            </a:r>
            <a:r>
              <a:rPr lang="zh-TW" altLang="en-US" dirty="0"/>
              <a:t>可能就不會被正確辨識。這時數字</a:t>
            </a:r>
            <a:r>
              <a:rPr lang="en-US" altLang="zh-TW" dirty="0"/>
              <a:t>1</a:t>
            </a:r>
            <a:r>
              <a:rPr lang="zh-TW" altLang="en-US" dirty="0"/>
              <a:t>下面的一橫，可以被稱為不必要的特徵。</a:t>
            </a:r>
          </a:p>
        </p:txBody>
      </p:sp>
      <p:sp>
        <p:nvSpPr>
          <p:cNvPr id="4" name="投影片編號版面配置區 3">
            <a:extLst>
              <a:ext uri="{FF2B5EF4-FFF2-40B4-BE49-F238E27FC236}">
                <a16:creationId xmlns:a16="http://schemas.microsoft.com/office/drawing/2014/main" id="{7ADE22C7-B198-4A4D-952B-32DD5D7DE141}"/>
              </a:ext>
            </a:extLst>
          </p:cNvPr>
          <p:cNvSpPr>
            <a:spLocks noGrp="1"/>
          </p:cNvSpPr>
          <p:nvPr>
            <p:ph type="sldNum" sz="quarter" idx="12"/>
          </p:nvPr>
        </p:nvSpPr>
        <p:spPr/>
        <p:txBody>
          <a:bodyPr/>
          <a:lstStyle/>
          <a:p>
            <a:fld id="{33E4D947-4B0C-4C4C-8502-CC34B2016046}" type="slidenum">
              <a:rPr lang="zh-TW" altLang="en-US" smtClean="0"/>
              <a:t>26</a:t>
            </a:fld>
            <a:endParaRPr lang="zh-TW" altLang="en-US"/>
          </a:p>
        </p:txBody>
      </p:sp>
      <p:pic>
        <p:nvPicPr>
          <p:cNvPr id="6" name="圖片 5">
            <a:extLst>
              <a:ext uri="{FF2B5EF4-FFF2-40B4-BE49-F238E27FC236}">
                <a16:creationId xmlns:a16="http://schemas.microsoft.com/office/drawing/2014/main" id="{48A6A081-779C-4CE8-9768-BD0FD0EDD5B6}"/>
              </a:ext>
            </a:extLst>
          </p:cNvPr>
          <p:cNvPicPr>
            <a:picLocks noChangeAspect="1"/>
          </p:cNvPicPr>
          <p:nvPr/>
        </p:nvPicPr>
        <p:blipFill>
          <a:blip r:embed="rId2"/>
          <a:stretch>
            <a:fillRect/>
          </a:stretch>
        </p:blipFill>
        <p:spPr>
          <a:xfrm>
            <a:off x="1922137" y="4283610"/>
            <a:ext cx="5299726" cy="2435009"/>
          </a:xfrm>
          <a:prstGeom prst="rect">
            <a:avLst/>
          </a:prstGeom>
        </p:spPr>
      </p:pic>
    </p:spTree>
    <p:extLst>
      <p:ext uri="{BB962C8B-B14F-4D97-AF65-F5344CB8AC3E}">
        <p14:creationId xmlns:p14="http://schemas.microsoft.com/office/powerpoint/2010/main" val="3117542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136E6FC-FAF2-4E74-B78C-FA9077E4764E}"/>
              </a:ext>
            </a:extLst>
          </p:cNvPr>
          <p:cNvSpPr>
            <a:spLocks noGrp="1"/>
          </p:cNvSpPr>
          <p:nvPr>
            <p:ph idx="1"/>
          </p:nvPr>
        </p:nvSpPr>
        <p:spPr>
          <a:xfrm>
            <a:off x="377190" y="683812"/>
            <a:ext cx="8385810" cy="4351338"/>
          </a:xfrm>
        </p:spPr>
        <p:txBody>
          <a:bodyPr>
            <a:normAutofit/>
          </a:bodyPr>
          <a:lstStyle/>
          <a:p>
            <a:r>
              <a:rPr lang="zh-TW" altLang="en-US" dirty="0"/>
              <a:t>神經網路因為這種枝微末節的特徵調整參數，可以大幅提高訓練集的預測準確度，但訓練後的測試集資料變異可能又與訓練資料不同，因此預測準確率會有一定的落差。</a:t>
            </a:r>
          </a:p>
          <a:p>
            <a:r>
              <a:rPr lang="zh-TW" altLang="en-US" dirty="0"/>
              <a:t>畢竟測試集的答案通常是未知的或未被分類的，這樣的結果我們並不樂見。因此我們會用一個捨棄函數，在特定幾層的運算結束後捨棄部分神經元的運算結果，透過較少且較為重要的特徵進行預測。</a:t>
            </a:r>
          </a:p>
          <a:p>
            <a:r>
              <a:rPr lang="zh-TW" altLang="en-US" dirty="0"/>
              <a:t>以下我們將重新寫一個神經網路類別，這個類別中會運用</a:t>
            </a:r>
            <a:r>
              <a:rPr lang="en-US" altLang="zh-TW" dirty="0"/>
              <a:t>Dropout</a:t>
            </a:r>
            <a:r>
              <a:rPr lang="zh-TW" altLang="en-US" dirty="0"/>
              <a:t>函數，試圖解決過擬合的問題。</a:t>
            </a:r>
          </a:p>
        </p:txBody>
      </p:sp>
      <p:sp>
        <p:nvSpPr>
          <p:cNvPr id="4" name="投影片編號版面配置區 3">
            <a:extLst>
              <a:ext uri="{FF2B5EF4-FFF2-40B4-BE49-F238E27FC236}">
                <a16:creationId xmlns:a16="http://schemas.microsoft.com/office/drawing/2014/main" id="{78619F51-5E86-4934-8A17-83759C469193}"/>
              </a:ext>
            </a:extLst>
          </p:cNvPr>
          <p:cNvSpPr>
            <a:spLocks noGrp="1"/>
          </p:cNvSpPr>
          <p:nvPr>
            <p:ph type="sldNum" sz="quarter" idx="12"/>
          </p:nvPr>
        </p:nvSpPr>
        <p:spPr/>
        <p:txBody>
          <a:bodyPr/>
          <a:lstStyle/>
          <a:p>
            <a:fld id="{33E4D947-4B0C-4C4C-8502-CC34B2016046}" type="slidenum">
              <a:rPr lang="zh-TW" altLang="en-US" smtClean="0"/>
              <a:t>27</a:t>
            </a:fld>
            <a:endParaRPr lang="zh-TW" altLang="en-US"/>
          </a:p>
        </p:txBody>
      </p:sp>
      <p:pic>
        <p:nvPicPr>
          <p:cNvPr id="6" name="圖片 5">
            <a:extLst>
              <a:ext uri="{FF2B5EF4-FFF2-40B4-BE49-F238E27FC236}">
                <a16:creationId xmlns:a16="http://schemas.microsoft.com/office/drawing/2014/main" id="{D934C26A-C0E5-4640-AEF9-E95D5598D478}"/>
              </a:ext>
            </a:extLst>
          </p:cNvPr>
          <p:cNvPicPr>
            <a:picLocks noChangeAspect="1"/>
          </p:cNvPicPr>
          <p:nvPr/>
        </p:nvPicPr>
        <p:blipFill>
          <a:blip r:embed="rId2"/>
          <a:stretch>
            <a:fillRect/>
          </a:stretch>
        </p:blipFill>
        <p:spPr>
          <a:xfrm>
            <a:off x="1632568" y="4806489"/>
            <a:ext cx="5648351" cy="1982931"/>
          </a:xfrm>
          <a:prstGeom prst="rect">
            <a:avLst/>
          </a:prstGeom>
        </p:spPr>
      </p:pic>
    </p:spTree>
    <p:extLst>
      <p:ext uri="{BB962C8B-B14F-4D97-AF65-F5344CB8AC3E}">
        <p14:creationId xmlns:p14="http://schemas.microsoft.com/office/powerpoint/2010/main" val="495888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E38FB6-0459-45F1-AD70-A650B44183C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9CDFCA3-7D00-4D5B-B186-3C32E8253336}"/>
              </a:ext>
            </a:extLst>
          </p:cNvPr>
          <p:cNvSpPr>
            <a:spLocks noGrp="1"/>
          </p:cNvSpPr>
          <p:nvPr>
            <p:ph idx="1"/>
          </p:nvPr>
        </p:nvSpPr>
        <p:spPr>
          <a:xfrm>
            <a:off x="373380" y="1825624"/>
            <a:ext cx="8641080" cy="4667249"/>
          </a:xfrm>
        </p:spPr>
        <p:txBody>
          <a:bodyPr>
            <a:normAutofit/>
          </a:bodyPr>
          <a:lstStyle/>
          <a:p>
            <a:r>
              <a:rPr lang="zh-TW" altLang="en-US" dirty="0"/>
              <a:t>在神經網路的類別宣告中，我們加入了</a:t>
            </a:r>
            <a:r>
              <a:rPr lang="en-US" altLang="zh-TW" dirty="0"/>
              <a:t>Dropout()</a:t>
            </a:r>
            <a:r>
              <a:rPr lang="zh-TW" altLang="en-US" dirty="0"/>
              <a:t>的神經網路層，拋棄一些中間的運算結果，語法如下：</a:t>
            </a:r>
          </a:p>
          <a:p>
            <a:pPr lvl="1"/>
            <a:r>
              <a:rPr lang="en-US" altLang="zh-TW" dirty="0"/>
              <a:t>Dropout(p)</a:t>
            </a:r>
            <a:r>
              <a:rPr lang="zh-TW" altLang="en-US" dirty="0"/>
              <a:t>：以</a:t>
            </a:r>
            <a:r>
              <a:rPr lang="en-US" altLang="zh-TW" dirty="0"/>
              <a:t>p</a:t>
            </a:r>
            <a:r>
              <a:rPr lang="zh-TW" altLang="en-US" dirty="0"/>
              <a:t>決定將多大比例的神經元輸出歸零，預設為</a:t>
            </a:r>
            <a:r>
              <a:rPr lang="en-US" altLang="zh-TW" dirty="0"/>
              <a:t>0.5</a:t>
            </a:r>
            <a:r>
              <a:rPr lang="zh-TW" altLang="en-US" dirty="0"/>
              <a:t>（即半數的神經元輸出歸零）。</a:t>
            </a:r>
            <a:endParaRPr lang="en-US" altLang="zh-TW" dirty="0"/>
          </a:p>
          <a:p>
            <a:r>
              <a:rPr lang="zh-TW" altLang="en-US" dirty="0"/>
              <a:t>超參數和模型宣告和上個小節相同，可以參閱先前的說明。</a:t>
            </a:r>
            <a:endParaRPr lang="en-US" altLang="zh-TW" dirty="0"/>
          </a:p>
          <a:p>
            <a:r>
              <a:rPr lang="zh-TW" altLang="en-US" dirty="0"/>
              <a:t>資料集的載入和上個小節相同，可以參閱先前的說明。</a:t>
            </a:r>
            <a:endParaRPr lang="en-US" altLang="zh-TW" dirty="0"/>
          </a:p>
          <a:p>
            <a:r>
              <a:rPr lang="zh-TW" altLang="en-US" dirty="0"/>
              <a:t>視覺化函式和上個小節相同，可以參閱先前的說明。</a:t>
            </a:r>
          </a:p>
        </p:txBody>
      </p:sp>
      <p:sp>
        <p:nvSpPr>
          <p:cNvPr id="4" name="投影片編號版面配置區 3">
            <a:extLst>
              <a:ext uri="{FF2B5EF4-FFF2-40B4-BE49-F238E27FC236}">
                <a16:creationId xmlns:a16="http://schemas.microsoft.com/office/drawing/2014/main" id="{2D3F5F29-8FB2-4BF1-8EFF-AD8B002B312F}"/>
              </a:ext>
            </a:extLst>
          </p:cNvPr>
          <p:cNvSpPr>
            <a:spLocks noGrp="1"/>
          </p:cNvSpPr>
          <p:nvPr>
            <p:ph type="sldNum" sz="quarter" idx="12"/>
          </p:nvPr>
        </p:nvSpPr>
        <p:spPr/>
        <p:txBody>
          <a:bodyPr/>
          <a:lstStyle/>
          <a:p>
            <a:fld id="{33E4D947-4B0C-4C4C-8502-CC34B2016046}" type="slidenum">
              <a:rPr lang="zh-TW" altLang="en-US" smtClean="0"/>
              <a:t>28</a:t>
            </a:fld>
            <a:endParaRPr lang="zh-TW" altLang="en-US"/>
          </a:p>
        </p:txBody>
      </p:sp>
    </p:spTree>
    <p:extLst>
      <p:ext uri="{BB962C8B-B14F-4D97-AF65-F5344CB8AC3E}">
        <p14:creationId xmlns:p14="http://schemas.microsoft.com/office/powerpoint/2010/main" val="1466689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76CFB3-B14A-4524-B1C6-55E16F29E56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02D8F1D-6D63-4BCF-922D-874991EF922C}"/>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7AA65C8D-76B0-4B01-B5A7-A52DC18E48C9}"/>
              </a:ext>
            </a:extLst>
          </p:cNvPr>
          <p:cNvSpPr>
            <a:spLocks noGrp="1"/>
          </p:cNvSpPr>
          <p:nvPr>
            <p:ph type="sldNum" sz="quarter" idx="12"/>
          </p:nvPr>
        </p:nvSpPr>
        <p:spPr/>
        <p:txBody>
          <a:bodyPr/>
          <a:lstStyle/>
          <a:p>
            <a:fld id="{33E4D947-4B0C-4C4C-8502-CC34B2016046}" type="slidenum">
              <a:rPr lang="zh-TW" altLang="en-US" smtClean="0"/>
              <a:t>29</a:t>
            </a:fld>
            <a:endParaRPr lang="zh-TW" altLang="en-US"/>
          </a:p>
        </p:txBody>
      </p:sp>
      <p:pic>
        <p:nvPicPr>
          <p:cNvPr id="6" name="圖片 5">
            <a:extLst>
              <a:ext uri="{FF2B5EF4-FFF2-40B4-BE49-F238E27FC236}">
                <a16:creationId xmlns:a16="http://schemas.microsoft.com/office/drawing/2014/main" id="{CFFA56F2-F6AF-478B-8574-F3DC2D32E847}"/>
              </a:ext>
            </a:extLst>
          </p:cNvPr>
          <p:cNvPicPr>
            <a:picLocks noChangeAspect="1"/>
          </p:cNvPicPr>
          <p:nvPr/>
        </p:nvPicPr>
        <p:blipFill>
          <a:blip r:embed="rId2"/>
          <a:stretch>
            <a:fillRect/>
          </a:stretch>
        </p:blipFill>
        <p:spPr>
          <a:xfrm>
            <a:off x="367638" y="807702"/>
            <a:ext cx="8517282" cy="5489399"/>
          </a:xfrm>
          <a:prstGeom prst="rect">
            <a:avLst/>
          </a:prstGeom>
        </p:spPr>
      </p:pic>
    </p:spTree>
    <p:extLst>
      <p:ext uri="{BB962C8B-B14F-4D97-AF65-F5344CB8AC3E}">
        <p14:creationId xmlns:p14="http://schemas.microsoft.com/office/powerpoint/2010/main" val="2411142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8B060CA-2BD7-4ED0-BA32-8DFB758B3755}"/>
              </a:ext>
            </a:extLst>
          </p:cNvPr>
          <p:cNvSpPr>
            <a:spLocks noGrp="1"/>
          </p:cNvSpPr>
          <p:nvPr>
            <p:ph idx="1"/>
          </p:nvPr>
        </p:nvSpPr>
        <p:spPr/>
        <p:txBody>
          <a:bodyPr/>
          <a:lstStyle/>
          <a:p>
            <a:r>
              <a:rPr lang="zh-TW" altLang="en-US" dirty="0"/>
              <a:t>訓練函式和上個小節相同，可以參閱先前的說明。</a:t>
            </a:r>
            <a:endParaRPr lang="en-US" altLang="zh-TW" dirty="0"/>
          </a:p>
          <a:p>
            <a:r>
              <a:rPr lang="zh-TW" altLang="en-US" dirty="0"/>
              <a:t>和上個小節的模型比對訓練數據後，會發現有</a:t>
            </a:r>
            <a:r>
              <a:rPr lang="en-US" altLang="zh-TW" dirty="0"/>
              <a:t>Dropout</a:t>
            </a:r>
            <a:r>
              <a:rPr lang="zh-TW" altLang="en-US" dirty="0"/>
              <a:t>層的神經網路確實有比較好的表現，尤其是在測試集的損失上。</a:t>
            </a:r>
          </a:p>
        </p:txBody>
      </p:sp>
      <p:sp>
        <p:nvSpPr>
          <p:cNvPr id="4" name="投影片編號版面配置區 3">
            <a:extLst>
              <a:ext uri="{FF2B5EF4-FFF2-40B4-BE49-F238E27FC236}">
                <a16:creationId xmlns:a16="http://schemas.microsoft.com/office/drawing/2014/main" id="{0F5E0ED4-6DCB-4D7A-9B06-4BEF665C3A18}"/>
              </a:ext>
            </a:extLst>
          </p:cNvPr>
          <p:cNvSpPr>
            <a:spLocks noGrp="1"/>
          </p:cNvSpPr>
          <p:nvPr>
            <p:ph type="sldNum" sz="quarter" idx="12"/>
          </p:nvPr>
        </p:nvSpPr>
        <p:spPr/>
        <p:txBody>
          <a:bodyPr/>
          <a:lstStyle/>
          <a:p>
            <a:fld id="{33E4D947-4B0C-4C4C-8502-CC34B2016046}" type="slidenum">
              <a:rPr lang="zh-TW" altLang="en-US" smtClean="0"/>
              <a:t>30</a:t>
            </a:fld>
            <a:endParaRPr lang="zh-TW" altLang="en-US"/>
          </a:p>
        </p:txBody>
      </p:sp>
    </p:spTree>
    <p:extLst>
      <p:ext uri="{BB962C8B-B14F-4D97-AF65-F5344CB8AC3E}">
        <p14:creationId xmlns:p14="http://schemas.microsoft.com/office/powerpoint/2010/main" val="289020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8161FA-FA00-459C-B26A-CB134FBB520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28BCFC9-8EDA-43F9-B99A-2670C20ABDA5}"/>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D56B08DD-9BF5-4EFB-B032-BBE125DEC4EC}"/>
              </a:ext>
            </a:extLst>
          </p:cNvPr>
          <p:cNvSpPr>
            <a:spLocks noGrp="1"/>
          </p:cNvSpPr>
          <p:nvPr>
            <p:ph type="sldNum" sz="quarter" idx="12"/>
          </p:nvPr>
        </p:nvSpPr>
        <p:spPr/>
        <p:txBody>
          <a:bodyPr/>
          <a:lstStyle/>
          <a:p>
            <a:fld id="{33E4D947-4B0C-4C4C-8502-CC34B2016046}" type="slidenum">
              <a:rPr lang="zh-TW" altLang="en-US" smtClean="0"/>
              <a:t>31</a:t>
            </a:fld>
            <a:endParaRPr lang="zh-TW" altLang="en-US"/>
          </a:p>
        </p:txBody>
      </p:sp>
      <p:pic>
        <p:nvPicPr>
          <p:cNvPr id="6" name="圖片 5">
            <a:extLst>
              <a:ext uri="{FF2B5EF4-FFF2-40B4-BE49-F238E27FC236}">
                <a16:creationId xmlns:a16="http://schemas.microsoft.com/office/drawing/2014/main" id="{5D7F56F5-3281-449C-BE62-10741B91E00B}"/>
              </a:ext>
            </a:extLst>
          </p:cNvPr>
          <p:cNvPicPr>
            <a:picLocks noChangeAspect="1"/>
          </p:cNvPicPr>
          <p:nvPr/>
        </p:nvPicPr>
        <p:blipFill>
          <a:blip r:embed="rId2"/>
          <a:stretch>
            <a:fillRect/>
          </a:stretch>
        </p:blipFill>
        <p:spPr>
          <a:xfrm>
            <a:off x="407670" y="466505"/>
            <a:ext cx="7943850" cy="6026369"/>
          </a:xfrm>
          <a:prstGeom prst="rect">
            <a:avLst/>
          </a:prstGeom>
        </p:spPr>
      </p:pic>
    </p:spTree>
    <p:extLst>
      <p:ext uri="{BB962C8B-B14F-4D97-AF65-F5344CB8AC3E}">
        <p14:creationId xmlns:p14="http://schemas.microsoft.com/office/powerpoint/2010/main" val="2440685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15A2EC-05D4-494B-8B9D-BF11F05BD44B}"/>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69BB1157-633E-4CFD-9AA0-A01A39A10B49}"/>
              </a:ext>
            </a:extLst>
          </p:cNvPr>
          <p:cNvSpPr>
            <a:spLocks noGrp="1"/>
          </p:cNvSpPr>
          <p:nvPr>
            <p:ph idx="1"/>
          </p:nvPr>
        </p:nvSpPr>
        <p:spPr/>
        <p:txBody>
          <a:bodyPr/>
          <a:lstStyle/>
          <a:p>
            <a:r>
              <a:rPr lang="zh-TW" altLang="en-US" dirty="0"/>
              <a:t>我們可以再畫圖表觀察，會發現訓練集和測試集的訓練曲線比上一個小節的實作更近了一些。</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8B5C678E-A072-42F9-B926-FEE870C0C159}"/>
              </a:ext>
            </a:extLst>
          </p:cNvPr>
          <p:cNvSpPr>
            <a:spLocks noGrp="1"/>
          </p:cNvSpPr>
          <p:nvPr>
            <p:ph type="sldNum" sz="quarter" idx="12"/>
          </p:nvPr>
        </p:nvSpPr>
        <p:spPr/>
        <p:txBody>
          <a:bodyPr/>
          <a:lstStyle/>
          <a:p>
            <a:fld id="{33E4D947-4B0C-4C4C-8502-CC34B2016046}" type="slidenum">
              <a:rPr lang="zh-TW" altLang="en-US" smtClean="0"/>
              <a:t>32</a:t>
            </a:fld>
            <a:endParaRPr lang="zh-TW" altLang="en-US"/>
          </a:p>
        </p:txBody>
      </p:sp>
    </p:spTree>
    <p:extLst>
      <p:ext uri="{BB962C8B-B14F-4D97-AF65-F5344CB8AC3E}">
        <p14:creationId xmlns:p14="http://schemas.microsoft.com/office/powerpoint/2010/main" val="2003819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D64EFB-CFE1-478F-8A56-08A9016A438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764D9B4-8B5E-4D14-A839-C02AD79BDED9}"/>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CB75766-D909-4689-8EC6-7348E58D9A4B}"/>
              </a:ext>
            </a:extLst>
          </p:cNvPr>
          <p:cNvSpPr>
            <a:spLocks noGrp="1"/>
          </p:cNvSpPr>
          <p:nvPr>
            <p:ph type="sldNum" sz="quarter" idx="12"/>
          </p:nvPr>
        </p:nvSpPr>
        <p:spPr/>
        <p:txBody>
          <a:bodyPr/>
          <a:lstStyle/>
          <a:p>
            <a:fld id="{33E4D947-4B0C-4C4C-8502-CC34B2016046}" type="slidenum">
              <a:rPr lang="zh-TW" altLang="en-US" smtClean="0"/>
              <a:t>33</a:t>
            </a:fld>
            <a:endParaRPr lang="zh-TW" altLang="en-US"/>
          </a:p>
        </p:txBody>
      </p:sp>
      <p:pic>
        <p:nvPicPr>
          <p:cNvPr id="6" name="圖片 5">
            <a:extLst>
              <a:ext uri="{FF2B5EF4-FFF2-40B4-BE49-F238E27FC236}">
                <a16:creationId xmlns:a16="http://schemas.microsoft.com/office/drawing/2014/main" id="{4EF68B4F-689D-4145-AEAE-3DF5B1251873}"/>
              </a:ext>
            </a:extLst>
          </p:cNvPr>
          <p:cNvPicPr>
            <a:picLocks noChangeAspect="1"/>
          </p:cNvPicPr>
          <p:nvPr/>
        </p:nvPicPr>
        <p:blipFill>
          <a:blip r:embed="rId2"/>
          <a:stretch>
            <a:fillRect/>
          </a:stretch>
        </p:blipFill>
        <p:spPr>
          <a:xfrm>
            <a:off x="1527796" y="136524"/>
            <a:ext cx="5444503" cy="6733992"/>
          </a:xfrm>
          <a:prstGeom prst="rect">
            <a:avLst/>
          </a:prstGeom>
        </p:spPr>
      </p:pic>
    </p:spTree>
    <p:extLst>
      <p:ext uri="{BB962C8B-B14F-4D97-AF65-F5344CB8AC3E}">
        <p14:creationId xmlns:p14="http://schemas.microsoft.com/office/powerpoint/2010/main" val="492387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60DD07-1A75-4C08-9FE0-DF268C23C02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1C71044-C695-4E81-98BA-665F56F24228}"/>
              </a:ext>
            </a:extLst>
          </p:cNvPr>
          <p:cNvSpPr>
            <a:spLocks noGrp="1"/>
          </p:cNvSpPr>
          <p:nvPr>
            <p:ph idx="1"/>
          </p:nvPr>
        </p:nvSpPr>
        <p:spPr>
          <a:xfrm>
            <a:off x="628650" y="1825625"/>
            <a:ext cx="8218170" cy="4351338"/>
          </a:xfrm>
        </p:spPr>
        <p:txBody>
          <a:bodyPr>
            <a:normAutofit/>
          </a:bodyPr>
          <a:lstStyle/>
          <a:p>
            <a:r>
              <a:rPr lang="zh-TW" altLang="en-US" dirty="0"/>
              <a:t>我們發現測試集的預測準確率提升了大約</a:t>
            </a:r>
            <a:r>
              <a:rPr lang="en-US" altLang="zh-TW" dirty="0"/>
              <a:t>0.5%</a:t>
            </a:r>
            <a:r>
              <a:rPr lang="zh-TW" altLang="en-US" dirty="0"/>
              <a:t>。這個效果看似不顯著，是因為</a:t>
            </a:r>
            <a:r>
              <a:rPr lang="en-US" altLang="zh-TW" dirty="0"/>
              <a:t>MNIST</a:t>
            </a:r>
            <a:r>
              <a:rPr lang="zh-TW" altLang="en-US" dirty="0"/>
              <a:t>屬於比較單純且雜訊少的資料，過擬合問題並不嚴重。一般的深度學習通常會處理到含有大量雜訊的資料，放棄不重要的特徵有助於辨識準確率的提升。訓練集的預測準確率比測試集來得高是合理的，但透過</a:t>
            </a:r>
            <a:r>
              <a:rPr lang="en-US" altLang="zh-TW" dirty="0"/>
              <a:t>Dropout</a:t>
            </a:r>
            <a:r>
              <a:rPr lang="zh-TW" altLang="en-US" dirty="0"/>
              <a:t>提高測試集辨識準確率，有時是可行且有效的方法。</a:t>
            </a:r>
          </a:p>
          <a:p>
            <a:pPr marL="0" indent="0" algn="ctr">
              <a:buNone/>
            </a:pPr>
            <a:r>
              <a:rPr lang="en-US" altLang="zh-TW" sz="2400" dirty="0"/>
              <a:t>visualize(</a:t>
            </a:r>
            <a:r>
              <a:rPr lang="en-US" altLang="zh-TW" sz="2400" dirty="0" err="1"/>
              <a:t>NN_Dropout</a:t>
            </a:r>
            <a:r>
              <a:rPr lang="en-US" altLang="zh-TW" sz="2400" dirty="0"/>
              <a:t>, </a:t>
            </a:r>
            <a:r>
              <a:rPr lang="en-US" altLang="zh-TW" sz="2400" dirty="0" err="1"/>
              <a:t>test_loader</a:t>
            </a:r>
            <a:r>
              <a:rPr lang="en-US" altLang="zh-TW" sz="2400" dirty="0"/>
              <a:t>) # </a:t>
            </a:r>
            <a:r>
              <a:rPr lang="zh-TW" altLang="en-US" sz="2400" dirty="0"/>
              <a:t>結果視覺化</a:t>
            </a:r>
          </a:p>
        </p:txBody>
      </p:sp>
      <p:sp>
        <p:nvSpPr>
          <p:cNvPr id="4" name="投影片編號版面配置區 3">
            <a:extLst>
              <a:ext uri="{FF2B5EF4-FFF2-40B4-BE49-F238E27FC236}">
                <a16:creationId xmlns:a16="http://schemas.microsoft.com/office/drawing/2014/main" id="{6D8B1E9D-9254-4620-B293-C393D47FCFA0}"/>
              </a:ext>
            </a:extLst>
          </p:cNvPr>
          <p:cNvSpPr>
            <a:spLocks noGrp="1"/>
          </p:cNvSpPr>
          <p:nvPr>
            <p:ph type="sldNum" sz="quarter" idx="12"/>
          </p:nvPr>
        </p:nvSpPr>
        <p:spPr/>
        <p:txBody>
          <a:bodyPr/>
          <a:lstStyle/>
          <a:p>
            <a:fld id="{33E4D947-4B0C-4C4C-8502-CC34B2016046}" type="slidenum">
              <a:rPr lang="zh-TW" altLang="en-US" smtClean="0"/>
              <a:t>34</a:t>
            </a:fld>
            <a:endParaRPr lang="zh-TW" altLang="en-US"/>
          </a:p>
        </p:txBody>
      </p:sp>
    </p:spTree>
    <p:extLst>
      <p:ext uri="{BB962C8B-B14F-4D97-AF65-F5344CB8AC3E}">
        <p14:creationId xmlns:p14="http://schemas.microsoft.com/office/powerpoint/2010/main" val="2558868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47D551-7F59-4086-920E-CE8283C8379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E1B59CB-56E8-4DED-9FCE-0B27E798F235}"/>
              </a:ext>
            </a:extLst>
          </p:cNvPr>
          <p:cNvSpPr>
            <a:spLocks noGrp="1"/>
          </p:cNvSpPr>
          <p:nvPr>
            <p:ph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4D1CAF81-7107-4EA1-8B5F-881B654D458E}"/>
              </a:ext>
            </a:extLst>
          </p:cNvPr>
          <p:cNvSpPr>
            <a:spLocks noGrp="1"/>
          </p:cNvSpPr>
          <p:nvPr>
            <p:ph type="sldNum" sz="quarter" idx="12"/>
          </p:nvPr>
        </p:nvSpPr>
        <p:spPr/>
        <p:txBody>
          <a:bodyPr/>
          <a:lstStyle/>
          <a:p>
            <a:fld id="{33E4D947-4B0C-4C4C-8502-CC34B2016046}" type="slidenum">
              <a:rPr lang="zh-TW" altLang="en-US" smtClean="0"/>
              <a:t>35</a:t>
            </a:fld>
            <a:endParaRPr lang="zh-TW" altLang="en-US"/>
          </a:p>
        </p:txBody>
      </p:sp>
      <p:pic>
        <p:nvPicPr>
          <p:cNvPr id="6" name="圖片 5">
            <a:extLst>
              <a:ext uri="{FF2B5EF4-FFF2-40B4-BE49-F238E27FC236}">
                <a16:creationId xmlns:a16="http://schemas.microsoft.com/office/drawing/2014/main" id="{FE38EBF2-21D1-495B-97C1-7E8F511FD739}"/>
              </a:ext>
            </a:extLst>
          </p:cNvPr>
          <p:cNvPicPr>
            <a:picLocks noChangeAspect="1"/>
          </p:cNvPicPr>
          <p:nvPr/>
        </p:nvPicPr>
        <p:blipFill>
          <a:blip r:embed="rId2"/>
          <a:stretch>
            <a:fillRect/>
          </a:stretch>
        </p:blipFill>
        <p:spPr>
          <a:xfrm>
            <a:off x="371447" y="758172"/>
            <a:ext cx="8399173" cy="5342985"/>
          </a:xfrm>
          <a:prstGeom prst="rect">
            <a:avLst/>
          </a:prstGeom>
        </p:spPr>
      </p:pic>
    </p:spTree>
    <p:extLst>
      <p:ext uri="{BB962C8B-B14F-4D97-AF65-F5344CB8AC3E}">
        <p14:creationId xmlns:p14="http://schemas.microsoft.com/office/powerpoint/2010/main" val="3977735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690D7C-4E2D-4205-8A9C-6D3208481716}"/>
              </a:ext>
            </a:extLst>
          </p:cNvPr>
          <p:cNvSpPr>
            <a:spLocks noGrp="1"/>
          </p:cNvSpPr>
          <p:nvPr>
            <p:ph type="title"/>
          </p:nvPr>
        </p:nvSpPr>
        <p:spPr/>
        <p:txBody>
          <a:bodyPr/>
          <a:lstStyle/>
          <a:p>
            <a:r>
              <a:rPr lang="en-US" altLang="zh-TW" dirty="0"/>
              <a:t>7.3 </a:t>
            </a:r>
            <a:r>
              <a:rPr lang="zh-TW" altLang="en-US" dirty="0"/>
              <a:t>習題</a:t>
            </a:r>
          </a:p>
        </p:txBody>
      </p:sp>
      <p:sp>
        <p:nvSpPr>
          <p:cNvPr id="4" name="投影片編號版面配置區 3">
            <a:extLst>
              <a:ext uri="{FF2B5EF4-FFF2-40B4-BE49-F238E27FC236}">
                <a16:creationId xmlns:a16="http://schemas.microsoft.com/office/drawing/2014/main" id="{4549350B-9A39-424A-BF97-36780576BD5D}"/>
              </a:ext>
            </a:extLst>
          </p:cNvPr>
          <p:cNvSpPr>
            <a:spLocks noGrp="1"/>
          </p:cNvSpPr>
          <p:nvPr>
            <p:ph type="sldNum" sz="quarter" idx="12"/>
          </p:nvPr>
        </p:nvSpPr>
        <p:spPr/>
        <p:txBody>
          <a:bodyPr/>
          <a:lstStyle/>
          <a:p>
            <a:fld id="{33E4D947-4B0C-4C4C-8502-CC34B2016046}" type="slidenum">
              <a:rPr lang="zh-TW" altLang="en-US" smtClean="0"/>
              <a:t>36</a:t>
            </a:fld>
            <a:endParaRPr lang="zh-TW" altLang="en-US"/>
          </a:p>
        </p:txBody>
      </p:sp>
    </p:spTree>
    <p:extLst>
      <p:ext uri="{BB962C8B-B14F-4D97-AF65-F5344CB8AC3E}">
        <p14:creationId xmlns:p14="http://schemas.microsoft.com/office/powerpoint/2010/main" val="352172452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10160</TotalTime>
  <Words>2375</Words>
  <Application>Microsoft Office PowerPoint</Application>
  <PresentationFormat>如螢幕大小 (4:3)</PresentationFormat>
  <Paragraphs>115</Paragraphs>
  <Slides>36</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36</vt:i4>
      </vt:variant>
    </vt:vector>
  </HeadingPairs>
  <TitlesOfParts>
    <vt:vector size="41" baseType="lpstr">
      <vt:lpstr>華康黑體</vt:lpstr>
      <vt:lpstr>Arial</vt:lpstr>
      <vt:lpstr>Calibri</vt:lpstr>
      <vt:lpstr>Wingdings</vt:lpstr>
      <vt:lpstr>Office 佈景主題</vt:lpstr>
      <vt:lpstr>PowerPoint 簡報</vt:lpstr>
      <vt:lpstr>第7章 深度神經網路實作</vt:lpstr>
      <vt:lpstr>7.1 運用torch.nn類別實作MNIST手寫數字辨識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7.2運用Dropout函數減緩過擬合問題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7.3 習題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Jason Lee</dc:creator>
  <cp:lastModifiedBy>Jason Lee</cp:lastModifiedBy>
  <cp:revision>144</cp:revision>
  <dcterms:created xsi:type="dcterms:W3CDTF">2024-02-08T01:42:39Z</dcterms:created>
  <dcterms:modified xsi:type="dcterms:W3CDTF">2024-08-31T02:26:54Z</dcterms:modified>
</cp:coreProperties>
</file>